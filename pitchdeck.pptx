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Bahnschrift SemiLight" panose="020B0502040204020203" pitchFamily="34" charset="0"/>
      <p:regular r:id="rId19"/>
    </p:embeddedFont>
    <p:embeddedFont>
      <p:font typeface="Barlow" panose="00000500000000000000" pitchFamily="2" charset="0"/>
      <p:regular r:id="rId20"/>
      <p:bold r:id="rId21"/>
      <p:italic r:id="rId22"/>
      <p:boldItalic r:id="rId23"/>
    </p:embeddedFont>
    <p:embeddedFont>
      <p:font typeface="Barlow Bold" panose="00000800000000000000" charset="0"/>
      <p:regular r:id="rId24"/>
    </p:embeddedFont>
    <p:embeddedFont>
      <p:font typeface="Barlow Medium" panose="00000600000000000000" pitchFamily="2" charset="0"/>
      <p:regular r:id="rId25"/>
      <p:italic r:id="rId26"/>
    </p:embeddedFont>
    <p:embeddedFont>
      <p:font typeface="Barlow Medium Italics" panose="020B0604020202020204" charset="0"/>
      <p:regular r:id="rId27"/>
    </p:embeddedFont>
    <p:embeddedFont>
      <p:font typeface="Barlow Semi-Bold" panose="020B0604020202020204" charset="0"/>
      <p:regular r:id="rId28"/>
    </p:embeddedFont>
    <p:embeddedFont>
      <p:font typeface="Canva Sans" panose="020B0604020202020204" charset="0"/>
      <p:regular r:id="rId29"/>
    </p:embeddedFont>
    <p:embeddedFont>
      <p:font typeface="Garet" panose="020B0604020202020204" charset="0"/>
      <p:regular r:id="rId30"/>
    </p:embeddedFont>
    <p:embeddedFont>
      <p:font typeface="Lucida Bright" panose="02040602050505020304" pitchFamily="18" charset="0"/>
      <p:regular r:id="rId31"/>
      <p:bold r:id="rId32"/>
      <p:italic r:id="rId33"/>
      <p:boldItalic r:id="rId34"/>
    </p:embeddedFont>
    <p:embeddedFont>
      <p:font typeface="MV Boli" panose="02000500030200090000" pitchFamily="2" charset="0"/>
      <p:regular r:id="rId35"/>
    </p:embeddedFont>
    <p:embeddedFont>
      <p:font typeface="Tahoma" panose="020B0604030504040204" pitchFamily="34" charset="0"/>
      <p:regular r:id="rId36"/>
      <p:bold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5" d="100"/>
          <a:sy n="45" d="100"/>
        </p:scale>
        <p:origin x="150" y="-3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viewProps" Target="viewProps.xml"/><Relationship Id="rId21" Type="http://schemas.openxmlformats.org/officeDocument/2006/relationships/font" Target="fonts/font3.fntdata"/><Relationship Id="rId34" Type="http://schemas.openxmlformats.org/officeDocument/2006/relationships/font" Target="fonts/font1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C7A62D-7B9A-480D-838A-DBB8F6E86AAD}" type="datetimeFigureOut">
              <a:rPr lang="en-KE" smtClean="0"/>
              <a:t>13/01/2025</a:t>
            </a:fld>
            <a:endParaRPr lang="en-K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FBDA78-E006-4E23-8E1F-549C05BF7EAA}" type="slidenum">
              <a:rPr lang="en-KE" smtClean="0"/>
              <a:t>‹#›</a:t>
            </a:fld>
            <a:endParaRPr lang="en-KE"/>
          </a:p>
        </p:txBody>
      </p:sp>
    </p:spTree>
    <p:extLst>
      <p:ext uri="{BB962C8B-B14F-4D97-AF65-F5344CB8AC3E}">
        <p14:creationId xmlns:p14="http://schemas.microsoft.com/office/powerpoint/2010/main" val="1555255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E" dirty="0"/>
          </a:p>
        </p:txBody>
      </p:sp>
      <p:sp>
        <p:nvSpPr>
          <p:cNvPr id="4" name="Slide Number Placeholder 3"/>
          <p:cNvSpPr>
            <a:spLocks noGrp="1"/>
          </p:cNvSpPr>
          <p:nvPr>
            <p:ph type="sldNum" sz="quarter" idx="5"/>
          </p:nvPr>
        </p:nvSpPr>
        <p:spPr/>
        <p:txBody>
          <a:bodyPr/>
          <a:lstStyle/>
          <a:p>
            <a:fld id="{E9FBDA78-E006-4E23-8E1F-549C05BF7EAA}" type="slidenum">
              <a:rPr lang="en-KE" smtClean="0"/>
              <a:t>3</a:t>
            </a:fld>
            <a:endParaRPr lang="en-KE"/>
          </a:p>
        </p:txBody>
      </p:sp>
    </p:spTree>
    <p:extLst>
      <p:ext uri="{BB962C8B-B14F-4D97-AF65-F5344CB8AC3E}">
        <p14:creationId xmlns:p14="http://schemas.microsoft.com/office/powerpoint/2010/main" val="2255157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23.jpeg"/></Relationships>
</file>

<file path=ppt/slides/_rels/slide1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 Id="rId9" Type="http://schemas.openxmlformats.org/officeDocument/2006/relationships/image" Target="../media/image3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050357" y="9484941"/>
            <a:ext cx="798886" cy="347980"/>
          </a:xfrm>
          <a:prstGeom prst="rect">
            <a:avLst/>
          </a:prstGeom>
        </p:spPr>
        <p:txBody>
          <a:bodyPr lIns="0" tIns="0" rIns="0" bIns="0" rtlCol="0" anchor="t">
            <a:spAutoFit/>
          </a:bodyPr>
          <a:lstStyle/>
          <a:p>
            <a:pPr algn="r">
              <a:lnSpc>
                <a:spcPts val="2749"/>
              </a:lnSpc>
            </a:pPr>
            <a:r>
              <a:rPr lang="en-US" sz="2199" b="1">
                <a:solidFill>
                  <a:srgbClr val="90113E"/>
                </a:solidFill>
                <a:latin typeface="Barlow Semi-Bold"/>
                <a:ea typeface="Barlow Semi-Bold"/>
                <a:cs typeface="Barlow Semi-Bold"/>
                <a:sym typeface="Barlow Semi-Bold"/>
              </a:rPr>
              <a:t>02</a:t>
            </a:r>
          </a:p>
        </p:txBody>
      </p:sp>
      <p:sp>
        <p:nvSpPr>
          <p:cNvPr id="3" name="Freeform 3"/>
          <p:cNvSpPr/>
          <p:nvPr/>
        </p:nvSpPr>
        <p:spPr>
          <a:xfrm>
            <a:off x="14309762" y="1467788"/>
            <a:ext cx="2274977" cy="2274977"/>
          </a:xfrm>
          <a:custGeom>
            <a:avLst/>
            <a:gdLst/>
            <a:ahLst/>
            <a:cxnLst/>
            <a:rect l="l" t="t" r="r" b="b"/>
            <a:pathLst>
              <a:path w="2274977" h="2274977">
                <a:moveTo>
                  <a:pt x="0" y="0"/>
                </a:moveTo>
                <a:lnTo>
                  <a:pt x="2274976" y="0"/>
                </a:lnTo>
                <a:lnTo>
                  <a:pt x="2274976" y="2274977"/>
                </a:lnTo>
                <a:lnTo>
                  <a:pt x="0" y="22749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3234911" y="2328734"/>
            <a:ext cx="2212339" cy="553085"/>
          </a:xfrm>
          <a:custGeom>
            <a:avLst/>
            <a:gdLst/>
            <a:ahLst/>
            <a:cxnLst/>
            <a:rect l="l" t="t" r="r" b="b"/>
            <a:pathLst>
              <a:path w="2212339" h="553085">
                <a:moveTo>
                  <a:pt x="0" y="0"/>
                </a:moveTo>
                <a:lnTo>
                  <a:pt x="2212339" y="0"/>
                </a:lnTo>
                <a:lnTo>
                  <a:pt x="2212339" y="553085"/>
                </a:lnTo>
                <a:lnTo>
                  <a:pt x="0" y="5530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5" name="Group 5"/>
          <p:cNvGrpSpPr/>
          <p:nvPr/>
        </p:nvGrpSpPr>
        <p:grpSpPr>
          <a:xfrm>
            <a:off x="1028700" y="1013155"/>
            <a:ext cx="10865999" cy="3288641"/>
            <a:chOff x="0" y="0"/>
            <a:chExt cx="14487999" cy="4384855"/>
          </a:xfrm>
        </p:grpSpPr>
        <p:sp>
          <p:nvSpPr>
            <p:cNvPr id="6" name="TextBox 6"/>
            <p:cNvSpPr txBox="1"/>
            <p:nvPr/>
          </p:nvSpPr>
          <p:spPr>
            <a:xfrm>
              <a:off x="0" y="0"/>
              <a:ext cx="14487999" cy="3276600"/>
            </a:xfrm>
            <a:prstGeom prst="rect">
              <a:avLst/>
            </a:prstGeom>
          </p:spPr>
          <p:txBody>
            <a:bodyPr lIns="0" tIns="0" rIns="0" bIns="0" rtlCol="0" anchor="t">
              <a:spAutoFit/>
            </a:bodyPr>
            <a:lstStyle/>
            <a:p>
              <a:pPr marL="0" lvl="0" indent="0" algn="l">
                <a:lnSpc>
                  <a:spcPts val="9720"/>
                </a:lnSpc>
              </a:pPr>
              <a:r>
                <a:rPr lang="en-US" sz="8100" b="1" u="none">
                  <a:solidFill>
                    <a:srgbClr val="90113E"/>
                  </a:solidFill>
                  <a:latin typeface="Barlow Semi-Bold"/>
                  <a:ea typeface="Barlow Semi-Bold"/>
                  <a:cs typeface="Barlow Semi-Bold"/>
                  <a:sym typeface="Barlow Semi-Bold"/>
                </a:rPr>
                <a:t>How to Use this Presentation</a:t>
              </a:r>
            </a:p>
          </p:txBody>
        </p:sp>
        <p:sp>
          <p:nvSpPr>
            <p:cNvPr id="7" name="TextBox 7"/>
            <p:cNvSpPr txBox="1"/>
            <p:nvPr/>
          </p:nvSpPr>
          <p:spPr>
            <a:xfrm>
              <a:off x="0" y="3494796"/>
              <a:ext cx="14487999" cy="890060"/>
            </a:xfrm>
            <a:prstGeom prst="rect">
              <a:avLst/>
            </a:prstGeom>
          </p:spPr>
          <p:txBody>
            <a:bodyPr lIns="0" tIns="0" rIns="0" bIns="0" rtlCol="0" anchor="t">
              <a:spAutoFit/>
            </a:bodyPr>
            <a:lstStyle/>
            <a:p>
              <a:pPr algn="l">
                <a:lnSpc>
                  <a:spcPts val="5599"/>
                </a:lnSpc>
              </a:pPr>
              <a:r>
                <a:rPr lang="en-US" sz="3999" b="1" i="1">
                  <a:solidFill>
                    <a:srgbClr val="0BB6BC"/>
                  </a:solidFill>
                  <a:latin typeface="Barlow Medium Italics"/>
                  <a:ea typeface="Barlow Medium Italics"/>
                  <a:cs typeface="Barlow Medium Italics"/>
                  <a:sym typeface="Barlow Medium Italics"/>
                </a:rPr>
                <a:t>Present with ease and wow your audience</a:t>
              </a:r>
            </a:p>
          </p:txBody>
        </p:sp>
      </p:grpSp>
      <p:sp>
        <p:nvSpPr>
          <p:cNvPr id="8" name="TextBox 8"/>
          <p:cNvSpPr txBox="1"/>
          <p:nvPr/>
        </p:nvSpPr>
        <p:spPr>
          <a:xfrm>
            <a:off x="1028700" y="5076825"/>
            <a:ext cx="12024357" cy="3919221"/>
          </a:xfrm>
          <a:prstGeom prst="rect">
            <a:avLst/>
          </a:prstGeom>
        </p:spPr>
        <p:txBody>
          <a:bodyPr lIns="0" tIns="0" rIns="0" bIns="0" rtlCol="0" anchor="t">
            <a:spAutoFit/>
          </a:bodyPr>
          <a:lstStyle/>
          <a:p>
            <a:pPr marL="690876" lvl="1" indent="-345438" algn="l">
              <a:lnSpc>
                <a:spcPts val="4479"/>
              </a:lnSpc>
              <a:buFont typeface="Arial"/>
              <a:buChar char="•"/>
            </a:pPr>
            <a:r>
              <a:rPr lang="en-US" sz="3199">
                <a:solidFill>
                  <a:srgbClr val="000000"/>
                </a:solidFill>
                <a:latin typeface="Barlow"/>
                <a:ea typeface="Barlow"/>
                <a:cs typeface="Barlow"/>
                <a:sym typeface="Barlow"/>
              </a:rPr>
              <a:t>Customize with text and photos. </a:t>
            </a:r>
          </a:p>
          <a:p>
            <a:pPr marL="690876" lvl="1" indent="-345438" algn="l">
              <a:lnSpc>
                <a:spcPts val="4479"/>
              </a:lnSpc>
              <a:buFont typeface="Arial"/>
              <a:buChar char="•"/>
            </a:pPr>
            <a:r>
              <a:rPr lang="en-US" sz="3199">
                <a:solidFill>
                  <a:srgbClr val="000000"/>
                </a:solidFill>
                <a:latin typeface="Barlow"/>
                <a:ea typeface="Barlow"/>
                <a:cs typeface="Barlow"/>
                <a:sym typeface="Barlow"/>
              </a:rPr>
              <a:t>Add elements from the library or upload from your drive. </a:t>
            </a:r>
          </a:p>
          <a:p>
            <a:pPr marL="690876" lvl="1" indent="-345438" algn="l">
              <a:lnSpc>
                <a:spcPts val="4479"/>
              </a:lnSpc>
              <a:buFont typeface="Arial"/>
              <a:buChar char="•"/>
            </a:pPr>
            <a:r>
              <a:rPr lang="en-US" sz="3199">
                <a:solidFill>
                  <a:srgbClr val="000000"/>
                </a:solidFill>
                <a:latin typeface="Barlow"/>
                <a:ea typeface="Barlow"/>
                <a:cs typeface="Barlow"/>
                <a:sym typeface="Barlow"/>
              </a:rPr>
              <a:t>Apply page animations and transitions to emphasize ideas. </a:t>
            </a:r>
          </a:p>
          <a:p>
            <a:pPr marL="690876" lvl="1" indent="-345438" algn="l">
              <a:lnSpc>
                <a:spcPts val="4479"/>
              </a:lnSpc>
              <a:buFont typeface="Arial"/>
              <a:buChar char="•"/>
            </a:pPr>
            <a:r>
              <a:rPr lang="en-US" sz="3199">
                <a:solidFill>
                  <a:srgbClr val="000000"/>
                </a:solidFill>
                <a:latin typeface="Barlow"/>
                <a:ea typeface="Barlow"/>
                <a:cs typeface="Barlow"/>
                <a:sym typeface="Barlow"/>
              </a:rPr>
              <a:t>Use point forms and short sentences instate of long paragraphs</a:t>
            </a:r>
          </a:p>
          <a:p>
            <a:pPr marL="690876" lvl="1" indent="-345438" algn="l">
              <a:lnSpc>
                <a:spcPts val="4479"/>
              </a:lnSpc>
              <a:buFont typeface="Arial"/>
              <a:buChar char="•"/>
            </a:pPr>
            <a:r>
              <a:rPr lang="en-US" sz="3199">
                <a:solidFill>
                  <a:srgbClr val="000000"/>
                </a:solidFill>
                <a:latin typeface="Barlow"/>
                <a:ea typeface="Barlow"/>
                <a:cs typeface="Barlow"/>
                <a:sym typeface="Barlow"/>
              </a:rPr>
              <a:t>Use the PLP pitch deck guide and follow the protocol on slides</a:t>
            </a:r>
          </a:p>
          <a:p>
            <a:pPr algn="l">
              <a:lnSpc>
                <a:spcPts val="4479"/>
              </a:lnSpc>
            </a:pPr>
            <a:endParaRPr lang="en-US" sz="3199">
              <a:solidFill>
                <a:srgbClr val="000000"/>
              </a:solidFill>
              <a:latin typeface="Barlow"/>
              <a:ea typeface="Barlow"/>
              <a:cs typeface="Barlow"/>
              <a:sym typeface="Barlow"/>
            </a:endParaRPr>
          </a:p>
          <a:p>
            <a:pPr algn="l">
              <a:lnSpc>
                <a:spcPts val="4479"/>
              </a:lnSpc>
            </a:pPr>
            <a:r>
              <a:rPr lang="en-US" sz="3199">
                <a:solidFill>
                  <a:srgbClr val="000000"/>
                </a:solidFill>
                <a:latin typeface="Barlow"/>
                <a:ea typeface="Barlow"/>
                <a:cs typeface="Barlow"/>
                <a:sym typeface="Barlow"/>
              </a:rPr>
              <a:t>Lastly “</a:t>
            </a:r>
            <a:r>
              <a:rPr lang="en-US" sz="3199" b="1">
                <a:solidFill>
                  <a:srgbClr val="000000"/>
                </a:solidFill>
                <a:latin typeface="Barlow Bold"/>
                <a:ea typeface="Barlow Bold"/>
                <a:cs typeface="Barlow Bold"/>
                <a:sym typeface="Barlow Bold"/>
              </a:rPr>
              <a:t>PLEASE DELETE THIS SLIDE WHEN YOU ARE DONE!</a:t>
            </a:r>
            <a:r>
              <a:rPr lang="en-US" sz="3199">
                <a:solidFill>
                  <a:srgbClr val="000000"/>
                </a:solidFill>
                <a:latin typeface="Barlow"/>
                <a:ea typeface="Barlow"/>
                <a:cs typeface="Barlow"/>
                <a:sym typeface="Barlow"/>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B6BC"/>
        </a:solidFill>
        <a:effectLst/>
      </p:bgPr>
    </p:bg>
    <p:spTree>
      <p:nvGrpSpPr>
        <p:cNvPr id="1" name=""/>
        <p:cNvGrpSpPr/>
        <p:nvPr/>
      </p:nvGrpSpPr>
      <p:grpSpPr>
        <a:xfrm>
          <a:off x="0" y="0"/>
          <a:ext cx="0" cy="0"/>
          <a:chOff x="0" y="0"/>
          <a:chExt cx="0" cy="0"/>
        </a:xfrm>
      </p:grpSpPr>
      <p:sp>
        <p:nvSpPr>
          <p:cNvPr id="2" name="Freeform 2"/>
          <p:cNvSpPr/>
          <p:nvPr/>
        </p:nvSpPr>
        <p:spPr>
          <a:xfrm>
            <a:off x="0" y="-552450"/>
            <a:ext cx="9601200" cy="11544300"/>
          </a:xfrm>
          <a:custGeom>
            <a:avLst/>
            <a:gdLst/>
            <a:ahLst/>
            <a:cxnLst/>
            <a:rect l="l" t="t" r="r" b="b"/>
            <a:pathLst>
              <a:path w="9601200" h="11544300">
                <a:moveTo>
                  <a:pt x="0" y="0"/>
                </a:moveTo>
                <a:lnTo>
                  <a:pt x="9601200" y="0"/>
                </a:lnTo>
                <a:lnTo>
                  <a:pt x="9601200" y="11544300"/>
                </a:lnTo>
                <a:lnTo>
                  <a:pt x="0" y="11544300"/>
                </a:lnTo>
                <a:lnTo>
                  <a:pt x="0" y="0"/>
                </a:lnTo>
                <a:close/>
              </a:path>
            </a:pathLst>
          </a:custGeom>
          <a:blipFill>
            <a:blip r:embed="rId2">
              <a:extLst>
                <a:ext uri="{96DAC541-7B7A-43D3-8B79-37D633B846F1}">
                  <asvg:svgBlip xmlns:asvg="http://schemas.microsoft.com/office/drawing/2016/SVG/main" r:embed="rId3"/>
                </a:ext>
              </a:extLst>
            </a:blip>
            <a:stretch>
              <a:fillRect l="-35381" t="-2505" b="-10089"/>
            </a:stretch>
          </a:blipFill>
        </p:spPr>
      </p:sp>
      <p:sp>
        <p:nvSpPr>
          <p:cNvPr id="3" name="TextBox 3"/>
          <p:cNvSpPr txBox="1"/>
          <p:nvPr/>
        </p:nvSpPr>
        <p:spPr>
          <a:xfrm>
            <a:off x="1028700" y="4165600"/>
            <a:ext cx="6994911" cy="3077766"/>
          </a:xfrm>
          <a:prstGeom prst="rect">
            <a:avLst/>
          </a:prstGeom>
        </p:spPr>
        <p:txBody>
          <a:bodyPr lIns="0" tIns="0" rIns="0" bIns="0" rtlCol="0" anchor="t">
            <a:spAutoFit/>
          </a:bodyPr>
          <a:lstStyle/>
          <a:p>
            <a:pPr algn="l">
              <a:lnSpc>
                <a:spcPts val="8000"/>
              </a:lnSpc>
            </a:pPr>
            <a:r>
              <a:rPr lang="en-US" sz="8000" b="1" dirty="0" err="1">
                <a:solidFill>
                  <a:srgbClr val="000000"/>
                </a:solidFill>
                <a:latin typeface="Barlow Semi-Bold"/>
                <a:ea typeface="Barlow Semi-Bold"/>
                <a:cs typeface="Barlow Semi-Bold"/>
                <a:sym typeface="Barlow Semi-Bold"/>
              </a:rPr>
              <a:t>BlockChain</a:t>
            </a:r>
            <a:r>
              <a:rPr lang="en-US" sz="8000" b="1" dirty="0">
                <a:solidFill>
                  <a:srgbClr val="000000"/>
                </a:solidFill>
                <a:latin typeface="Barlow Semi-Bold"/>
                <a:ea typeface="Barlow Semi-Bold"/>
                <a:cs typeface="Barlow Semi-Bold"/>
                <a:sym typeface="Barlow Semi-Bold"/>
              </a:rPr>
              <a:t> based Voting system</a:t>
            </a:r>
          </a:p>
        </p:txBody>
      </p:sp>
      <p:sp>
        <p:nvSpPr>
          <p:cNvPr id="4" name="TextBox 4"/>
          <p:cNvSpPr txBox="1"/>
          <p:nvPr/>
        </p:nvSpPr>
        <p:spPr>
          <a:xfrm>
            <a:off x="629257" y="9576600"/>
            <a:ext cx="798886" cy="347980"/>
          </a:xfrm>
          <a:prstGeom prst="rect">
            <a:avLst/>
          </a:prstGeom>
        </p:spPr>
        <p:txBody>
          <a:bodyPr lIns="0" tIns="0" rIns="0" bIns="0" rtlCol="0" anchor="t">
            <a:spAutoFit/>
          </a:bodyPr>
          <a:lstStyle/>
          <a:p>
            <a:pPr algn="l">
              <a:lnSpc>
                <a:spcPts val="2749"/>
              </a:lnSpc>
            </a:pPr>
            <a:r>
              <a:rPr lang="en-US" sz="2199" b="1">
                <a:solidFill>
                  <a:srgbClr val="90113E"/>
                </a:solidFill>
                <a:latin typeface="Barlow Semi-Bold"/>
                <a:ea typeface="Barlow Semi-Bold"/>
                <a:cs typeface="Barlow Semi-Bold"/>
                <a:sym typeface="Barlow Semi-Bold"/>
              </a:rPr>
              <a:t>01</a:t>
            </a:r>
          </a:p>
        </p:txBody>
      </p:sp>
      <p:sp>
        <p:nvSpPr>
          <p:cNvPr id="6" name="Freeform 6"/>
          <p:cNvSpPr/>
          <p:nvPr/>
        </p:nvSpPr>
        <p:spPr>
          <a:xfrm>
            <a:off x="303663" y="143884"/>
            <a:ext cx="1837509" cy="1837509"/>
          </a:xfrm>
          <a:custGeom>
            <a:avLst/>
            <a:gdLst/>
            <a:ahLst/>
            <a:cxnLst/>
            <a:rect l="l" t="t" r="r" b="b"/>
            <a:pathLst>
              <a:path w="1837509" h="1837509">
                <a:moveTo>
                  <a:pt x="0" y="0"/>
                </a:moveTo>
                <a:lnTo>
                  <a:pt x="1837510" y="0"/>
                </a:lnTo>
                <a:lnTo>
                  <a:pt x="1837510" y="1837510"/>
                </a:lnTo>
                <a:lnTo>
                  <a:pt x="0" y="1837510"/>
                </a:lnTo>
                <a:lnTo>
                  <a:pt x="0" y="0"/>
                </a:lnTo>
                <a:close/>
              </a:path>
            </a:pathLst>
          </a:custGeom>
          <a:blipFill>
            <a:blip r:embed="rId4"/>
            <a:stretch>
              <a:fillRect/>
            </a:stretch>
          </a:blipFill>
        </p:spPr>
      </p:sp>
      <p:pic>
        <p:nvPicPr>
          <p:cNvPr id="8" name="Picture 7">
            <a:extLst>
              <a:ext uri="{FF2B5EF4-FFF2-40B4-BE49-F238E27FC236}">
                <a16:creationId xmlns:a16="http://schemas.microsoft.com/office/drawing/2014/main" id="{62B7CC0C-6950-06BA-71C0-9BA3B7D2FC3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96600" y="1714500"/>
            <a:ext cx="5923280" cy="7391400"/>
          </a:xfrm>
          <a:prstGeom prst="rect">
            <a:avLst/>
          </a:prstGeom>
          <a:effectLst>
            <a:softEdge rad="127000"/>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2258270" y="-349930"/>
            <a:ext cx="7708159" cy="10986860"/>
          </a:xfrm>
          <a:prstGeom prst="rect">
            <a:avLst/>
          </a:prstGeom>
          <a:solidFill>
            <a:srgbClr val="0BB6BC"/>
          </a:solidFill>
        </p:spPr>
      </p:sp>
      <p:grpSp>
        <p:nvGrpSpPr>
          <p:cNvPr id="3" name="Group 3"/>
          <p:cNvGrpSpPr/>
          <p:nvPr/>
        </p:nvGrpSpPr>
        <p:grpSpPr>
          <a:xfrm>
            <a:off x="288962" y="1485901"/>
            <a:ext cx="10607638" cy="4358500"/>
            <a:chOff x="0" y="0"/>
            <a:chExt cx="13868400" cy="2915974"/>
          </a:xfrm>
        </p:grpSpPr>
        <p:sp>
          <p:nvSpPr>
            <p:cNvPr id="4" name="TextBox 4"/>
            <p:cNvSpPr txBox="1"/>
            <p:nvPr/>
          </p:nvSpPr>
          <p:spPr>
            <a:xfrm>
              <a:off x="0" y="0"/>
              <a:ext cx="13868400" cy="1593675"/>
            </a:xfrm>
            <a:prstGeom prst="rect">
              <a:avLst/>
            </a:prstGeom>
          </p:spPr>
          <p:txBody>
            <a:bodyPr wrap="square" lIns="0" tIns="0" rIns="0" bIns="0" rtlCol="0" anchor="t">
              <a:spAutoFit/>
            </a:bodyPr>
            <a:lstStyle/>
            <a:p>
              <a:pPr marL="0" lvl="0" indent="0" algn="l">
                <a:lnSpc>
                  <a:spcPts val="9720"/>
                </a:lnSpc>
              </a:pPr>
              <a:r>
                <a:rPr lang="en-US" sz="8000" b="1" u="none" dirty="0">
                  <a:solidFill>
                    <a:srgbClr val="0BB6BC"/>
                  </a:solidFill>
                  <a:latin typeface="Barlow Semi-Bold"/>
                  <a:ea typeface="Barlow Semi-Bold"/>
                  <a:cs typeface="Barlow Semi-Bold"/>
                  <a:sym typeface="Barlow Semi-Bold"/>
                </a:rPr>
                <a:t>Election Irregularities, Wastage and Errors</a:t>
              </a:r>
            </a:p>
          </p:txBody>
        </p:sp>
        <p:sp>
          <p:nvSpPr>
            <p:cNvPr id="5" name="TextBox 5"/>
            <p:cNvSpPr txBox="1"/>
            <p:nvPr/>
          </p:nvSpPr>
          <p:spPr>
            <a:xfrm>
              <a:off x="1643825" y="1806193"/>
              <a:ext cx="9817477" cy="1109781"/>
            </a:xfrm>
            <a:prstGeom prst="rect">
              <a:avLst/>
            </a:prstGeom>
          </p:spPr>
          <p:txBody>
            <a:bodyPr lIns="0" tIns="0" rIns="0" bIns="0" rtlCol="0" anchor="t">
              <a:spAutoFit/>
            </a:bodyPr>
            <a:lstStyle/>
            <a:p>
              <a:pPr algn="l">
                <a:lnSpc>
                  <a:spcPts val="4479"/>
                </a:lnSpc>
              </a:pPr>
              <a:r>
                <a:rPr lang="en-US" sz="2800" b="1" dirty="0">
                  <a:solidFill>
                    <a:srgbClr val="000000"/>
                  </a:solidFill>
                  <a:latin typeface="Barlow Medium"/>
                  <a:ea typeface="Barlow Medium"/>
                  <a:cs typeface="Barlow Medium"/>
                  <a:sym typeface="Barlow Medium"/>
                </a:rPr>
                <a:t>Did you know that over </a:t>
              </a:r>
              <a:r>
                <a:rPr lang="en-US" sz="2800" b="1" dirty="0">
                  <a:solidFill>
                    <a:schemeClr val="accent1"/>
                  </a:solidFill>
                  <a:latin typeface="Barlow Medium"/>
                  <a:ea typeface="Barlow Medium"/>
                  <a:cs typeface="Barlow Medium"/>
                  <a:sym typeface="Barlow Medium"/>
                </a:rPr>
                <a:t>600,000 </a:t>
              </a:r>
              <a:r>
                <a:rPr lang="en-US" sz="2800" b="1" dirty="0">
                  <a:solidFill>
                    <a:srgbClr val="000000"/>
                  </a:solidFill>
                  <a:latin typeface="Barlow Medium"/>
                  <a:ea typeface="Barlow Medium"/>
                  <a:cs typeface="Barlow Medium"/>
                  <a:sym typeface="Barlow Medium"/>
                </a:rPr>
                <a:t>people were </a:t>
              </a:r>
              <a:r>
                <a:rPr lang="en-US" sz="2800" b="1" dirty="0">
                  <a:solidFill>
                    <a:srgbClr val="C00000"/>
                  </a:solidFill>
                  <a:latin typeface="Barlow Medium"/>
                  <a:ea typeface="Barlow Medium"/>
                  <a:cs typeface="Barlow Medium"/>
                  <a:sym typeface="Barlow Medium"/>
                </a:rPr>
                <a:t>displaced</a:t>
              </a:r>
              <a:r>
                <a:rPr lang="en-US" sz="2800" b="1" dirty="0">
                  <a:solidFill>
                    <a:srgbClr val="000000"/>
                  </a:solidFill>
                  <a:latin typeface="Barlow Medium"/>
                  <a:ea typeface="Barlow Medium"/>
                  <a:cs typeface="Barlow Medium"/>
                  <a:sym typeface="Barlow Medium"/>
                </a:rPr>
                <a:t> after an election outcome in Kenya during the 2007 – 2008 general elections</a:t>
              </a:r>
            </a:p>
          </p:txBody>
        </p:sp>
      </p:grpSp>
      <p:sp>
        <p:nvSpPr>
          <p:cNvPr id="7" name="TextBox 7"/>
          <p:cNvSpPr txBox="1"/>
          <p:nvPr/>
        </p:nvSpPr>
        <p:spPr>
          <a:xfrm>
            <a:off x="17050357" y="9484941"/>
            <a:ext cx="798886" cy="347980"/>
          </a:xfrm>
          <a:prstGeom prst="rect">
            <a:avLst/>
          </a:prstGeom>
        </p:spPr>
        <p:txBody>
          <a:bodyPr lIns="0" tIns="0" rIns="0" bIns="0" rtlCol="0" anchor="t">
            <a:spAutoFit/>
          </a:bodyPr>
          <a:lstStyle/>
          <a:p>
            <a:pPr algn="r">
              <a:lnSpc>
                <a:spcPts val="2749"/>
              </a:lnSpc>
            </a:pPr>
            <a:r>
              <a:rPr lang="en-US" sz="2199" b="1">
                <a:solidFill>
                  <a:srgbClr val="90113E"/>
                </a:solidFill>
                <a:latin typeface="Barlow Semi-Bold"/>
                <a:ea typeface="Barlow Semi-Bold"/>
                <a:cs typeface="Barlow Semi-Bold"/>
                <a:sym typeface="Barlow Semi-Bold"/>
              </a:rPr>
              <a:t>10</a:t>
            </a:r>
          </a:p>
        </p:txBody>
      </p:sp>
      <p:sp>
        <p:nvSpPr>
          <p:cNvPr id="8" name="Freeform 8"/>
          <p:cNvSpPr/>
          <p:nvPr/>
        </p:nvSpPr>
        <p:spPr>
          <a:xfrm>
            <a:off x="629257" y="893789"/>
            <a:ext cx="1079292" cy="269823"/>
          </a:xfrm>
          <a:custGeom>
            <a:avLst/>
            <a:gdLst/>
            <a:ahLst/>
            <a:cxnLst/>
            <a:rect l="l" t="t" r="r" b="b"/>
            <a:pathLst>
              <a:path w="1079292" h="269823">
                <a:moveTo>
                  <a:pt x="0" y="0"/>
                </a:moveTo>
                <a:lnTo>
                  <a:pt x="1079292" y="0"/>
                </a:lnTo>
                <a:lnTo>
                  <a:pt x="1079292" y="269822"/>
                </a:lnTo>
                <a:lnTo>
                  <a:pt x="0" y="26982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8">
            <a:extLst>
              <a:ext uri="{FF2B5EF4-FFF2-40B4-BE49-F238E27FC236}">
                <a16:creationId xmlns:a16="http://schemas.microsoft.com/office/drawing/2014/main" id="{409C7F7A-6C9E-4B4C-FBEE-B77D34CED9AD}"/>
              </a:ext>
            </a:extLst>
          </p:cNvPr>
          <p:cNvSpPr txBox="1"/>
          <p:nvPr/>
        </p:nvSpPr>
        <p:spPr>
          <a:xfrm>
            <a:off x="288962" y="6419038"/>
            <a:ext cx="11046614" cy="2215991"/>
          </a:xfrm>
          <a:prstGeom prst="rect">
            <a:avLst/>
          </a:prstGeom>
          <a:noFill/>
        </p:spPr>
        <p:txBody>
          <a:bodyPr wrap="none" rtlCol="0">
            <a:spAutoFit/>
          </a:bodyPr>
          <a:lstStyle/>
          <a:p>
            <a:pPr marL="342900" indent="-342900">
              <a:buFont typeface="Arial" panose="020B0604020202020204" pitchFamily="34" charset="0"/>
              <a:buChar char="•"/>
            </a:pPr>
            <a:r>
              <a:rPr lang="en-GB" sz="2000" dirty="0"/>
              <a:t> </a:t>
            </a:r>
            <a:r>
              <a:rPr lang="en-GB" sz="2000" b="1" dirty="0">
                <a:latin typeface="Bahnschrift SemiLight" panose="020B0502040204020203" pitchFamily="34" charset="0"/>
              </a:rPr>
              <a:t>Kenya has faced multiple pre and post election problems that I  promise to address </a:t>
            </a:r>
          </a:p>
          <a:p>
            <a:pPr marL="342900" indent="-342900">
              <a:buFont typeface="Arial" panose="020B0604020202020204" pitchFamily="34" charset="0"/>
              <a:buChar char="•"/>
            </a:pPr>
            <a:endParaRPr lang="en-GB" sz="2000" b="1" dirty="0">
              <a:latin typeface="Bahnschrift SemiLight" panose="020B0502040204020203" pitchFamily="34" charset="0"/>
            </a:endParaRPr>
          </a:p>
          <a:p>
            <a:pPr marL="342900" indent="-342900">
              <a:buFont typeface="Wingdings" panose="05000000000000000000" pitchFamily="2" charset="2"/>
              <a:buChar char="ü"/>
            </a:pPr>
            <a:r>
              <a:rPr lang="en-GB" sz="2000" dirty="0">
                <a:latin typeface="Barlow" panose="00000500000000000000" pitchFamily="2" charset="0"/>
              </a:rPr>
              <a:t> Lack of trust from the public and the possibility of Rigging elections which may lead to violence</a:t>
            </a:r>
          </a:p>
          <a:p>
            <a:pPr marL="342900" indent="-342900">
              <a:buFont typeface="Wingdings" panose="05000000000000000000" pitchFamily="2" charset="2"/>
              <a:buChar char="ü"/>
            </a:pPr>
            <a:r>
              <a:rPr lang="en-GB" sz="2000" dirty="0">
                <a:latin typeface="Barlow" panose="00000500000000000000" pitchFamily="2" charset="0"/>
              </a:rPr>
              <a:t> High budget allocation on resources, and time wastage on counting and queueing</a:t>
            </a:r>
          </a:p>
          <a:p>
            <a:pPr marL="342900" indent="-342900">
              <a:buFont typeface="Wingdings" panose="05000000000000000000" pitchFamily="2" charset="2"/>
              <a:buChar char="ü"/>
            </a:pPr>
            <a:r>
              <a:rPr lang="en-GB" sz="2000" dirty="0">
                <a:latin typeface="Barlow" panose="00000500000000000000" pitchFamily="2" charset="0"/>
              </a:rPr>
              <a:t> Need for Voter registration for people who have a  national ID already</a:t>
            </a:r>
          </a:p>
          <a:p>
            <a:pPr marL="342900" indent="-342900">
              <a:buFont typeface="Wingdings" panose="05000000000000000000" pitchFamily="2" charset="2"/>
              <a:buChar char="ü"/>
            </a:pPr>
            <a:r>
              <a:rPr lang="en-GB" sz="2000" dirty="0">
                <a:latin typeface="Barlow" panose="00000500000000000000" pitchFamily="2" charset="0"/>
              </a:rPr>
              <a:t> Errors such as lack of voting materials for several regions in Kenya like it happened in 2022 </a:t>
            </a:r>
          </a:p>
          <a:p>
            <a:endParaRPr lang="en-KE" dirty="0"/>
          </a:p>
        </p:txBody>
      </p:sp>
      <p:pic>
        <p:nvPicPr>
          <p:cNvPr id="11" name="Picture 10">
            <a:extLst>
              <a:ext uri="{FF2B5EF4-FFF2-40B4-BE49-F238E27FC236}">
                <a16:creationId xmlns:a16="http://schemas.microsoft.com/office/drawing/2014/main" id="{E63AF55D-1A22-1E22-80B9-51BA8BD6F70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201400" y="1163612"/>
            <a:ext cx="6457343" cy="8115886"/>
          </a:xfrm>
          <a:prstGeom prst="rect">
            <a:avLst/>
          </a:prstGeom>
        </p:spPr>
      </p:pic>
      <p:grpSp>
        <p:nvGrpSpPr>
          <p:cNvPr id="12" name="Group 2">
            <a:extLst>
              <a:ext uri="{FF2B5EF4-FFF2-40B4-BE49-F238E27FC236}">
                <a16:creationId xmlns:a16="http://schemas.microsoft.com/office/drawing/2014/main" id="{A072C11F-0E1A-F829-F1E4-29B264084B56}"/>
              </a:ext>
            </a:extLst>
          </p:cNvPr>
          <p:cNvGrpSpPr/>
          <p:nvPr/>
        </p:nvGrpSpPr>
        <p:grpSpPr>
          <a:xfrm>
            <a:off x="288962" y="4058997"/>
            <a:ext cx="1059192" cy="1059192"/>
            <a:chOff x="0" y="0"/>
            <a:chExt cx="1412257" cy="1412257"/>
          </a:xfrm>
        </p:grpSpPr>
        <p:grpSp>
          <p:nvGrpSpPr>
            <p:cNvPr id="13" name="Group 3">
              <a:extLst>
                <a:ext uri="{FF2B5EF4-FFF2-40B4-BE49-F238E27FC236}">
                  <a16:creationId xmlns:a16="http://schemas.microsoft.com/office/drawing/2014/main" id="{F802652A-15A1-ACBF-56CB-D90DFC236098}"/>
                </a:ext>
              </a:extLst>
            </p:cNvPr>
            <p:cNvGrpSpPr/>
            <p:nvPr/>
          </p:nvGrpSpPr>
          <p:grpSpPr>
            <a:xfrm>
              <a:off x="0" y="0"/>
              <a:ext cx="1412257" cy="1412257"/>
              <a:chOff x="0" y="0"/>
              <a:chExt cx="6350000" cy="6350000"/>
            </a:xfrm>
          </p:grpSpPr>
          <p:sp>
            <p:nvSpPr>
              <p:cNvPr id="15" name="Freeform 4">
                <a:extLst>
                  <a:ext uri="{FF2B5EF4-FFF2-40B4-BE49-F238E27FC236}">
                    <a16:creationId xmlns:a16="http://schemas.microsoft.com/office/drawing/2014/main" id="{2CDCA511-3122-902D-93EA-24EA3F0895C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90113E"/>
              </a:solidFill>
            </p:spPr>
          </p:sp>
        </p:grpSp>
        <p:sp>
          <p:nvSpPr>
            <p:cNvPr id="14" name="Freeform 5">
              <a:extLst>
                <a:ext uri="{FF2B5EF4-FFF2-40B4-BE49-F238E27FC236}">
                  <a16:creationId xmlns:a16="http://schemas.microsoft.com/office/drawing/2014/main" id="{AC3AD4F9-BB08-E3F3-99CE-CF48268F9885}"/>
                </a:ext>
              </a:extLst>
            </p:cNvPr>
            <p:cNvSpPr/>
            <p:nvPr/>
          </p:nvSpPr>
          <p:spPr>
            <a:xfrm>
              <a:off x="474293" y="543843"/>
              <a:ext cx="463671" cy="324570"/>
            </a:xfrm>
            <a:custGeom>
              <a:avLst/>
              <a:gdLst/>
              <a:ahLst/>
              <a:cxnLst/>
              <a:rect l="l" t="t" r="r" b="b"/>
              <a:pathLst>
                <a:path w="463671" h="324570">
                  <a:moveTo>
                    <a:pt x="0" y="0"/>
                  </a:moveTo>
                  <a:lnTo>
                    <a:pt x="463671" y="0"/>
                  </a:lnTo>
                  <a:lnTo>
                    <a:pt x="463671" y="324570"/>
                  </a:lnTo>
                  <a:lnTo>
                    <a:pt x="0" y="3245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13353" y="8799562"/>
            <a:ext cx="1059192" cy="1059192"/>
            <a:chOff x="0" y="0"/>
            <a:chExt cx="1412257" cy="1412257"/>
          </a:xfrm>
        </p:grpSpPr>
        <p:grpSp>
          <p:nvGrpSpPr>
            <p:cNvPr id="3" name="Group 3"/>
            <p:cNvGrpSpPr/>
            <p:nvPr/>
          </p:nvGrpSpPr>
          <p:grpSpPr>
            <a:xfrm>
              <a:off x="0" y="0"/>
              <a:ext cx="1412257" cy="1412257"/>
              <a:chOff x="0" y="0"/>
              <a:chExt cx="6350000" cy="6350000"/>
            </a:xfrm>
          </p:grpSpPr>
          <p:sp>
            <p:nvSpPr>
              <p:cNvPr id="4" name="Freeform 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90113E"/>
              </a:solidFill>
            </p:spPr>
          </p:sp>
        </p:grpSp>
        <p:sp>
          <p:nvSpPr>
            <p:cNvPr id="5" name="Freeform 5"/>
            <p:cNvSpPr/>
            <p:nvPr/>
          </p:nvSpPr>
          <p:spPr>
            <a:xfrm>
              <a:off x="474293" y="543843"/>
              <a:ext cx="463671" cy="324570"/>
            </a:xfrm>
            <a:custGeom>
              <a:avLst/>
              <a:gdLst/>
              <a:ahLst/>
              <a:cxnLst/>
              <a:rect l="l" t="t" r="r" b="b"/>
              <a:pathLst>
                <a:path w="463671" h="324570">
                  <a:moveTo>
                    <a:pt x="0" y="0"/>
                  </a:moveTo>
                  <a:lnTo>
                    <a:pt x="463671" y="0"/>
                  </a:lnTo>
                  <a:lnTo>
                    <a:pt x="463671" y="324570"/>
                  </a:lnTo>
                  <a:lnTo>
                    <a:pt x="0" y="324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6" name="TextBox 6"/>
          <p:cNvSpPr txBox="1"/>
          <p:nvPr/>
        </p:nvSpPr>
        <p:spPr>
          <a:xfrm>
            <a:off x="1028700" y="625742"/>
            <a:ext cx="16649700" cy="1231106"/>
          </a:xfrm>
          <a:prstGeom prst="rect">
            <a:avLst/>
          </a:prstGeom>
        </p:spPr>
        <p:txBody>
          <a:bodyPr wrap="square" lIns="0" tIns="0" rIns="0" bIns="0" rtlCol="0" anchor="t">
            <a:spAutoFit/>
          </a:bodyPr>
          <a:lstStyle/>
          <a:p>
            <a:pPr marL="0" lvl="0" indent="0" algn="l">
              <a:lnSpc>
                <a:spcPts val="9600"/>
              </a:lnSpc>
            </a:pPr>
            <a:r>
              <a:rPr lang="en-US" sz="8000" b="1" dirty="0">
                <a:solidFill>
                  <a:srgbClr val="0BB6BC"/>
                </a:solidFill>
                <a:latin typeface="Barlow Bold"/>
                <a:ea typeface="Barlow Bold"/>
                <a:cs typeface="Barlow Bold"/>
                <a:sym typeface="Barlow Bold"/>
              </a:rPr>
              <a:t> </a:t>
            </a:r>
            <a:r>
              <a:rPr lang="en-US" sz="6000" b="1" dirty="0">
                <a:solidFill>
                  <a:srgbClr val="0BB6BC"/>
                </a:solidFill>
                <a:latin typeface="Barlow Bold"/>
                <a:ea typeface="Barlow Bold"/>
                <a:cs typeface="Barlow Bold"/>
                <a:sym typeface="Barlow Bold"/>
              </a:rPr>
              <a:t>Proposed Solution to Election based problems</a:t>
            </a:r>
            <a:endParaRPr lang="en-US" sz="8000" b="1" u="none" dirty="0">
              <a:solidFill>
                <a:srgbClr val="0BB6BC"/>
              </a:solidFill>
              <a:latin typeface="Barlow Bold"/>
              <a:ea typeface="Barlow Bold"/>
              <a:cs typeface="Barlow Bold"/>
              <a:sym typeface="Barlow Bold"/>
            </a:endParaRPr>
          </a:p>
        </p:txBody>
      </p:sp>
      <p:sp>
        <p:nvSpPr>
          <p:cNvPr id="7" name="TextBox 7"/>
          <p:cNvSpPr txBox="1"/>
          <p:nvPr/>
        </p:nvSpPr>
        <p:spPr>
          <a:xfrm>
            <a:off x="17050357" y="9484941"/>
            <a:ext cx="798886" cy="347980"/>
          </a:xfrm>
          <a:prstGeom prst="rect">
            <a:avLst/>
          </a:prstGeom>
        </p:spPr>
        <p:txBody>
          <a:bodyPr lIns="0" tIns="0" rIns="0" bIns="0" rtlCol="0" anchor="t">
            <a:spAutoFit/>
          </a:bodyPr>
          <a:lstStyle/>
          <a:p>
            <a:pPr algn="r">
              <a:lnSpc>
                <a:spcPts val="2749"/>
              </a:lnSpc>
            </a:pPr>
            <a:r>
              <a:rPr lang="en-US" sz="2199" b="1">
                <a:solidFill>
                  <a:srgbClr val="90113E"/>
                </a:solidFill>
                <a:latin typeface="Barlow Semi-Bold"/>
                <a:ea typeface="Barlow Semi-Bold"/>
                <a:cs typeface="Barlow Semi-Bold"/>
                <a:sym typeface="Barlow Semi-Bold"/>
              </a:rPr>
              <a:t>06</a:t>
            </a:r>
          </a:p>
        </p:txBody>
      </p:sp>
      <p:sp>
        <p:nvSpPr>
          <p:cNvPr id="8" name="TextBox 8"/>
          <p:cNvSpPr txBox="1"/>
          <p:nvPr/>
        </p:nvSpPr>
        <p:spPr>
          <a:xfrm>
            <a:off x="1028700" y="2454542"/>
            <a:ext cx="15582900" cy="6771084"/>
          </a:xfrm>
          <a:prstGeom prst="rect">
            <a:avLst/>
          </a:prstGeom>
        </p:spPr>
        <p:txBody>
          <a:bodyPr wrap="square" lIns="0" tIns="0" rIns="0" bIns="0" rtlCol="0" anchor="t">
            <a:spAutoFit/>
          </a:bodyPr>
          <a:lstStyle/>
          <a:p>
            <a:pPr marL="571500" lvl="0" indent="-571500" algn="l">
              <a:lnSpc>
                <a:spcPts val="4800"/>
              </a:lnSpc>
              <a:buFont typeface="Wingdings" panose="05000000000000000000" pitchFamily="2" charset="2"/>
              <a:buChar char="Ø"/>
            </a:pPr>
            <a:r>
              <a:rPr lang="en-US" sz="4000" u="none" dirty="0">
                <a:solidFill>
                  <a:srgbClr val="000000"/>
                </a:solidFill>
                <a:latin typeface="Barlow"/>
                <a:ea typeface="Barlow"/>
                <a:cs typeface="Barlow"/>
                <a:sym typeface="Barlow"/>
              </a:rPr>
              <a:t>Tamper proof system to handle registration, election casting, vote counting and tallying to prevent results doctoring</a:t>
            </a:r>
          </a:p>
          <a:p>
            <a:pPr marL="571500" lvl="0" indent="-571500" algn="l">
              <a:lnSpc>
                <a:spcPts val="4800"/>
              </a:lnSpc>
              <a:buFont typeface="Wingdings" panose="05000000000000000000" pitchFamily="2" charset="2"/>
              <a:buChar char="Ø"/>
            </a:pPr>
            <a:r>
              <a:rPr lang="en-US" sz="4000" dirty="0">
                <a:solidFill>
                  <a:srgbClr val="000000"/>
                </a:solidFill>
                <a:latin typeface="Barlow"/>
                <a:ea typeface="Barlow"/>
                <a:cs typeface="Barlow"/>
                <a:sym typeface="Barlow"/>
              </a:rPr>
              <a:t>Eliminating need for middle men that bring possibility of corruption, human errors and lack of trust</a:t>
            </a:r>
          </a:p>
          <a:p>
            <a:pPr marL="571500" lvl="0" indent="-571500" algn="l">
              <a:lnSpc>
                <a:spcPts val="4800"/>
              </a:lnSpc>
              <a:buFont typeface="Wingdings" panose="05000000000000000000" pitchFamily="2" charset="2"/>
              <a:buChar char="Ø"/>
            </a:pPr>
            <a:r>
              <a:rPr lang="en-US" sz="4000" u="none" dirty="0">
                <a:solidFill>
                  <a:srgbClr val="000000"/>
                </a:solidFill>
                <a:latin typeface="Barlow"/>
                <a:ea typeface="Barlow"/>
                <a:cs typeface="Barlow"/>
                <a:sym typeface="Barlow"/>
              </a:rPr>
              <a:t>The s</a:t>
            </a:r>
            <a:r>
              <a:rPr lang="en-US" sz="4000" dirty="0">
                <a:solidFill>
                  <a:srgbClr val="000000"/>
                </a:solidFill>
                <a:latin typeface="Barlow"/>
                <a:ea typeface="Barlow"/>
                <a:cs typeface="Barlow"/>
                <a:sym typeface="Barlow"/>
              </a:rPr>
              <a:t>ystem should be able to handle multiple concurrent voting sessions hence eliminates need for queueing the whole day</a:t>
            </a:r>
          </a:p>
          <a:p>
            <a:pPr marL="571500" lvl="0" indent="-571500" algn="l">
              <a:lnSpc>
                <a:spcPts val="4800"/>
              </a:lnSpc>
              <a:buFont typeface="Wingdings" panose="05000000000000000000" pitchFamily="2" charset="2"/>
              <a:buChar char="Ø"/>
            </a:pPr>
            <a:r>
              <a:rPr lang="en-US" sz="4000" u="none" dirty="0">
                <a:solidFill>
                  <a:srgbClr val="000000"/>
                </a:solidFill>
                <a:latin typeface="Barlow"/>
                <a:ea typeface="Barlow"/>
                <a:cs typeface="Barlow"/>
                <a:sym typeface="Barlow"/>
              </a:rPr>
              <a:t>Privacy of voters </a:t>
            </a:r>
            <a:r>
              <a:rPr lang="en-US" sz="4000" dirty="0">
                <a:solidFill>
                  <a:srgbClr val="000000"/>
                </a:solidFill>
                <a:latin typeface="Barlow"/>
                <a:ea typeface="Barlow"/>
                <a:cs typeface="Barlow"/>
                <a:sym typeface="Barlow"/>
              </a:rPr>
              <a:t>will be enhanced as no one will figure out which voter voted for which candidate </a:t>
            </a:r>
          </a:p>
          <a:p>
            <a:pPr marL="571500" lvl="0" indent="-571500" algn="l">
              <a:lnSpc>
                <a:spcPts val="4800"/>
              </a:lnSpc>
              <a:buFont typeface="Wingdings" panose="05000000000000000000" pitchFamily="2" charset="2"/>
              <a:buChar char="Ø"/>
            </a:pPr>
            <a:r>
              <a:rPr lang="en-US" sz="4000" dirty="0">
                <a:solidFill>
                  <a:srgbClr val="000000"/>
                </a:solidFill>
                <a:latin typeface="Barlow"/>
                <a:ea typeface="Barlow"/>
                <a:cs typeface="Barlow"/>
                <a:sym typeface="Barlow"/>
              </a:rPr>
              <a:t>Transparency of tallying as Kenyans can access the tally in real time while voting continues</a:t>
            </a:r>
          </a:p>
          <a:p>
            <a:pPr marL="571500" lvl="0" indent="-571500" algn="l">
              <a:lnSpc>
                <a:spcPts val="4800"/>
              </a:lnSpc>
              <a:buFont typeface="Wingdings" panose="05000000000000000000" pitchFamily="2" charset="2"/>
              <a:buChar char="Ø"/>
            </a:pPr>
            <a:endParaRPr lang="en-US" sz="4000" u="none" dirty="0">
              <a:solidFill>
                <a:srgbClr val="000000"/>
              </a:solidFill>
              <a:latin typeface="Barlow"/>
              <a:ea typeface="Barlow"/>
              <a:cs typeface="Barlow"/>
              <a:sym typeface="Barlow"/>
            </a:endParaRPr>
          </a:p>
        </p:txBody>
      </p:sp>
      <p:sp>
        <p:nvSpPr>
          <p:cNvPr id="9" name="TextBox 8">
            <a:extLst>
              <a:ext uri="{FF2B5EF4-FFF2-40B4-BE49-F238E27FC236}">
                <a16:creationId xmlns:a16="http://schemas.microsoft.com/office/drawing/2014/main" id="{F2336C8F-BCBB-3D9F-8788-4097EE1A9DA2}"/>
              </a:ext>
            </a:extLst>
          </p:cNvPr>
          <p:cNvSpPr txBox="1"/>
          <p:nvPr/>
        </p:nvSpPr>
        <p:spPr>
          <a:xfrm>
            <a:off x="2772544" y="9027669"/>
            <a:ext cx="12236042" cy="800219"/>
          </a:xfrm>
          <a:prstGeom prst="rect">
            <a:avLst/>
          </a:prstGeom>
          <a:noFill/>
        </p:spPr>
        <p:txBody>
          <a:bodyPr wrap="none" rtlCol="0">
            <a:spAutoFit/>
          </a:bodyPr>
          <a:lstStyle/>
          <a:p>
            <a:r>
              <a:rPr lang="en-GB" sz="1800" dirty="0">
                <a:latin typeface="MV Boli" panose="02000500030200090000" pitchFamily="2" charset="0"/>
                <a:cs typeface="MV Boli" panose="02000500030200090000" pitchFamily="2" charset="0"/>
              </a:rPr>
              <a:t>"</a:t>
            </a:r>
            <a:r>
              <a:rPr lang="en-GB" sz="2800" dirty="0">
                <a:latin typeface="MV Boli" panose="02000500030200090000" pitchFamily="2" charset="0"/>
                <a:cs typeface="MV Boli" panose="02000500030200090000" pitchFamily="2" charset="0"/>
              </a:rPr>
              <a:t>The best way to predict the future is to create it." - Peter Drucker</a:t>
            </a:r>
            <a:endParaRPr lang="en-US" sz="2800" u="none" dirty="0">
              <a:solidFill>
                <a:srgbClr val="000000"/>
              </a:solidFill>
              <a:latin typeface="MV Boli" panose="02000500030200090000" pitchFamily="2" charset="0"/>
              <a:ea typeface="Barlow"/>
              <a:cs typeface="MV Boli" panose="02000500030200090000" pitchFamily="2" charset="0"/>
              <a:sym typeface="Barlow"/>
            </a:endParaRPr>
          </a:p>
          <a:p>
            <a:endParaRPr lang="en-KE"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1031599" y="2656607"/>
            <a:ext cx="2651460" cy="5246370"/>
            <a:chOff x="0" y="0"/>
            <a:chExt cx="2620010" cy="5184140"/>
          </a:xfrm>
        </p:grpSpPr>
        <p:sp>
          <p:nvSpPr>
            <p:cNvPr id="3" name="Freeform 3"/>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4" name="Freeform 4"/>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solidFill>
              <a:srgbClr val="000000">
                <a:alpha val="0"/>
              </a:srgbClr>
            </a:solidFill>
            <a:ln w="12700">
              <a:solidFill>
                <a:srgbClr val="000000"/>
              </a:solidFill>
            </a:ln>
          </p:spPr>
        </p:sp>
        <p:sp>
          <p:nvSpPr>
            <p:cNvPr id="5" name="Freeform 5"/>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id="6" name="Freeform 6"/>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sp>
        <p:sp>
          <p:nvSpPr>
            <p:cNvPr id="7" name="Freeform 7"/>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id="8" name="Freeform 8"/>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id="9" name="Freeform 9"/>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id="10" name="Freeform 10"/>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id="11" name="Freeform 11"/>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id="12" name="Group 12"/>
          <p:cNvGrpSpPr>
            <a:grpSpLocks noChangeAspect="1"/>
          </p:cNvGrpSpPr>
          <p:nvPr/>
        </p:nvGrpSpPr>
        <p:grpSpPr>
          <a:xfrm>
            <a:off x="4445209" y="2678785"/>
            <a:ext cx="2651460" cy="5246370"/>
            <a:chOff x="0" y="0"/>
            <a:chExt cx="2620010" cy="5184140"/>
          </a:xfrm>
        </p:grpSpPr>
        <p:sp>
          <p:nvSpPr>
            <p:cNvPr id="13" name="Freeform 13"/>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14" name="Freeform 14"/>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solidFill>
              <a:srgbClr val="000000">
                <a:alpha val="0"/>
              </a:srgbClr>
            </a:solidFill>
            <a:ln w="12700">
              <a:solidFill>
                <a:srgbClr val="000000"/>
              </a:solidFill>
            </a:ln>
          </p:spPr>
        </p:sp>
        <p:sp>
          <p:nvSpPr>
            <p:cNvPr id="15" name="Freeform 15"/>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id="16" name="Freeform 16"/>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sp>
        <p:sp>
          <p:nvSpPr>
            <p:cNvPr id="17" name="Freeform 17"/>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id="18" name="Freeform 18"/>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id="19" name="Freeform 19"/>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id="20" name="Freeform 20"/>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id="21" name="Freeform 21"/>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id="22" name="TextBox 22"/>
          <p:cNvSpPr txBox="1"/>
          <p:nvPr/>
        </p:nvSpPr>
        <p:spPr>
          <a:xfrm>
            <a:off x="1028700" y="667172"/>
            <a:ext cx="8663715" cy="1243930"/>
          </a:xfrm>
          <a:prstGeom prst="rect">
            <a:avLst/>
          </a:prstGeom>
        </p:spPr>
        <p:txBody>
          <a:bodyPr lIns="0" tIns="0" rIns="0" bIns="0" rtlCol="0" anchor="t">
            <a:spAutoFit/>
          </a:bodyPr>
          <a:lstStyle/>
          <a:p>
            <a:pPr marL="0" lvl="0" indent="0" algn="l">
              <a:lnSpc>
                <a:spcPts val="9720"/>
              </a:lnSpc>
              <a:spcBef>
                <a:spcPct val="0"/>
              </a:spcBef>
            </a:pPr>
            <a:r>
              <a:rPr lang="en-US" sz="8100" b="1" u="none" dirty="0">
                <a:solidFill>
                  <a:srgbClr val="0BB6BC"/>
                </a:solidFill>
                <a:latin typeface="Barlow Bold"/>
                <a:ea typeface="Barlow Bold"/>
                <a:cs typeface="Barlow Bold"/>
                <a:sym typeface="Barlow Bold"/>
              </a:rPr>
              <a:t>E-Kura</a:t>
            </a:r>
          </a:p>
        </p:txBody>
      </p:sp>
      <p:sp>
        <p:nvSpPr>
          <p:cNvPr id="26" name="TextBox 26"/>
          <p:cNvSpPr txBox="1"/>
          <p:nvPr/>
        </p:nvSpPr>
        <p:spPr>
          <a:xfrm>
            <a:off x="17050357" y="9484941"/>
            <a:ext cx="798886" cy="347980"/>
          </a:xfrm>
          <a:prstGeom prst="rect">
            <a:avLst/>
          </a:prstGeom>
        </p:spPr>
        <p:txBody>
          <a:bodyPr lIns="0" tIns="0" rIns="0" bIns="0" rtlCol="0" anchor="t">
            <a:spAutoFit/>
          </a:bodyPr>
          <a:lstStyle/>
          <a:p>
            <a:pPr algn="r">
              <a:lnSpc>
                <a:spcPts val="2749"/>
              </a:lnSpc>
            </a:pPr>
            <a:r>
              <a:rPr lang="en-US" sz="2199">
                <a:solidFill>
                  <a:srgbClr val="000000"/>
                </a:solidFill>
                <a:latin typeface="Barlow"/>
                <a:ea typeface="Barlow"/>
                <a:cs typeface="Barlow"/>
                <a:sym typeface="Barlow"/>
              </a:rPr>
              <a:t>04</a:t>
            </a:r>
          </a:p>
        </p:txBody>
      </p:sp>
      <p:sp>
        <p:nvSpPr>
          <p:cNvPr id="28" name="TextBox 27">
            <a:extLst>
              <a:ext uri="{FF2B5EF4-FFF2-40B4-BE49-F238E27FC236}">
                <a16:creationId xmlns:a16="http://schemas.microsoft.com/office/drawing/2014/main" id="{1585C4AC-BA2F-7420-5AE2-7AC546BD0253}"/>
              </a:ext>
            </a:extLst>
          </p:cNvPr>
          <p:cNvSpPr txBox="1"/>
          <p:nvPr/>
        </p:nvSpPr>
        <p:spPr>
          <a:xfrm>
            <a:off x="1641310" y="9031646"/>
            <a:ext cx="12365886" cy="677108"/>
          </a:xfrm>
          <a:prstGeom prst="rect">
            <a:avLst/>
          </a:prstGeom>
          <a:noFill/>
        </p:spPr>
        <p:txBody>
          <a:bodyPr wrap="none" rtlCol="0">
            <a:spAutoFit/>
          </a:bodyPr>
          <a:lstStyle/>
          <a:p>
            <a:r>
              <a:rPr lang="en-GB" sz="2000" b="1" dirty="0">
                <a:latin typeface="Lucida Bright" panose="02040602050505020304" pitchFamily="18" charset="0"/>
              </a:rPr>
              <a:t>This is not just a technology upgrade—it's a step toward restoring faith in Kenya's democracy</a:t>
            </a:r>
            <a:endParaRPr lang="en-KE" sz="2000" b="1" dirty="0">
              <a:latin typeface="Lucida Bright" panose="02040602050505020304" pitchFamily="18" charset="0"/>
            </a:endParaRPr>
          </a:p>
          <a:p>
            <a:endParaRPr lang="en-KE" dirty="0"/>
          </a:p>
        </p:txBody>
      </p:sp>
      <p:grpSp>
        <p:nvGrpSpPr>
          <p:cNvPr id="29" name="Group 2">
            <a:extLst>
              <a:ext uri="{FF2B5EF4-FFF2-40B4-BE49-F238E27FC236}">
                <a16:creationId xmlns:a16="http://schemas.microsoft.com/office/drawing/2014/main" id="{DB6DCC0C-E8BD-9734-82FD-8EF694274395}"/>
              </a:ext>
            </a:extLst>
          </p:cNvPr>
          <p:cNvGrpSpPr/>
          <p:nvPr/>
        </p:nvGrpSpPr>
        <p:grpSpPr>
          <a:xfrm>
            <a:off x="499104" y="8739173"/>
            <a:ext cx="1059192" cy="1059192"/>
            <a:chOff x="0" y="0"/>
            <a:chExt cx="1412257" cy="1412257"/>
          </a:xfrm>
        </p:grpSpPr>
        <p:grpSp>
          <p:nvGrpSpPr>
            <p:cNvPr id="30" name="Group 3">
              <a:extLst>
                <a:ext uri="{FF2B5EF4-FFF2-40B4-BE49-F238E27FC236}">
                  <a16:creationId xmlns:a16="http://schemas.microsoft.com/office/drawing/2014/main" id="{B329FE80-E83F-D5B3-F379-1C13AFD66CE4}"/>
                </a:ext>
              </a:extLst>
            </p:cNvPr>
            <p:cNvGrpSpPr/>
            <p:nvPr/>
          </p:nvGrpSpPr>
          <p:grpSpPr>
            <a:xfrm>
              <a:off x="0" y="0"/>
              <a:ext cx="1412257" cy="1412257"/>
              <a:chOff x="0" y="0"/>
              <a:chExt cx="6350000" cy="6350000"/>
            </a:xfrm>
          </p:grpSpPr>
          <p:sp>
            <p:nvSpPr>
              <p:cNvPr id="32" name="Freeform 4">
                <a:extLst>
                  <a:ext uri="{FF2B5EF4-FFF2-40B4-BE49-F238E27FC236}">
                    <a16:creationId xmlns:a16="http://schemas.microsoft.com/office/drawing/2014/main" id="{2C391D23-6B1B-0AD4-A232-9BB090B082B6}"/>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90113E"/>
              </a:solidFill>
            </p:spPr>
          </p:sp>
        </p:grpSp>
        <p:sp>
          <p:nvSpPr>
            <p:cNvPr id="31" name="Freeform 5">
              <a:extLst>
                <a:ext uri="{FF2B5EF4-FFF2-40B4-BE49-F238E27FC236}">
                  <a16:creationId xmlns:a16="http://schemas.microsoft.com/office/drawing/2014/main" id="{39DB895C-09E2-732E-C0AB-10E55BD0DD9D}"/>
                </a:ext>
              </a:extLst>
            </p:cNvPr>
            <p:cNvSpPr/>
            <p:nvPr/>
          </p:nvSpPr>
          <p:spPr>
            <a:xfrm>
              <a:off x="474293" y="543843"/>
              <a:ext cx="463671" cy="324570"/>
            </a:xfrm>
            <a:custGeom>
              <a:avLst/>
              <a:gdLst/>
              <a:ahLst/>
              <a:cxnLst/>
              <a:rect l="l" t="t" r="r" b="b"/>
              <a:pathLst>
                <a:path w="463671" h="324570">
                  <a:moveTo>
                    <a:pt x="0" y="0"/>
                  </a:moveTo>
                  <a:lnTo>
                    <a:pt x="463671" y="0"/>
                  </a:lnTo>
                  <a:lnTo>
                    <a:pt x="463671" y="324570"/>
                  </a:lnTo>
                  <a:lnTo>
                    <a:pt x="0" y="324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grpSp>
        <p:nvGrpSpPr>
          <p:cNvPr id="33" name="Group 2">
            <a:extLst>
              <a:ext uri="{FF2B5EF4-FFF2-40B4-BE49-F238E27FC236}">
                <a16:creationId xmlns:a16="http://schemas.microsoft.com/office/drawing/2014/main" id="{E82BD93E-E8CD-8223-2249-032987DCBD1A}"/>
              </a:ext>
            </a:extLst>
          </p:cNvPr>
          <p:cNvGrpSpPr/>
          <p:nvPr/>
        </p:nvGrpSpPr>
        <p:grpSpPr>
          <a:xfrm>
            <a:off x="14007196" y="8617459"/>
            <a:ext cx="1059192" cy="1059192"/>
            <a:chOff x="0" y="0"/>
            <a:chExt cx="1412257" cy="1412257"/>
          </a:xfrm>
        </p:grpSpPr>
        <p:grpSp>
          <p:nvGrpSpPr>
            <p:cNvPr id="34" name="Group 3">
              <a:extLst>
                <a:ext uri="{FF2B5EF4-FFF2-40B4-BE49-F238E27FC236}">
                  <a16:creationId xmlns:a16="http://schemas.microsoft.com/office/drawing/2014/main" id="{97016FF0-957F-CA50-3672-71FE114B96E5}"/>
                </a:ext>
              </a:extLst>
            </p:cNvPr>
            <p:cNvGrpSpPr/>
            <p:nvPr/>
          </p:nvGrpSpPr>
          <p:grpSpPr>
            <a:xfrm>
              <a:off x="0" y="0"/>
              <a:ext cx="1412257" cy="1412257"/>
              <a:chOff x="0" y="0"/>
              <a:chExt cx="6350000" cy="6350000"/>
            </a:xfrm>
          </p:grpSpPr>
          <p:sp>
            <p:nvSpPr>
              <p:cNvPr id="36" name="Freeform 4">
                <a:extLst>
                  <a:ext uri="{FF2B5EF4-FFF2-40B4-BE49-F238E27FC236}">
                    <a16:creationId xmlns:a16="http://schemas.microsoft.com/office/drawing/2014/main" id="{3F9504CC-EE6D-42A8-080F-FCBECE0C0751}"/>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90113E"/>
              </a:solidFill>
            </p:spPr>
          </p:sp>
        </p:grpSp>
        <p:sp>
          <p:nvSpPr>
            <p:cNvPr id="35" name="Freeform 5">
              <a:extLst>
                <a:ext uri="{FF2B5EF4-FFF2-40B4-BE49-F238E27FC236}">
                  <a16:creationId xmlns:a16="http://schemas.microsoft.com/office/drawing/2014/main" id="{DB611F79-9BC5-3875-5FB3-4D7509243FE0}"/>
                </a:ext>
              </a:extLst>
            </p:cNvPr>
            <p:cNvSpPr/>
            <p:nvPr/>
          </p:nvSpPr>
          <p:spPr>
            <a:xfrm>
              <a:off x="474293" y="543843"/>
              <a:ext cx="463671" cy="324570"/>
            </a:xfrm>
            <a:custGeom>
              <a:avLst/>
              <a:gdLst/>
              <a:ahLst/>
              <a:cxnLst/>
              <a:rect l="l" t="t" r="r" b="b"/>
              <a:pathLst>
                <a:path w="463671" h="324570">
                  <a:moveTo>
                    <a:pt x="0" y="0"/>
                  </a:moveTo>
                  <a:lnTo>
                    <a:pt x="463671" y="0"/>
                  </a:lnTo>
                  <a:lnTo>
                    <a:pt x="463671" y="324570"/>
                  </a:lnTo>
                  <a:lnTo>
                    <a:pt x="0" y="324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37" name="TextBox 36">
            <a:extLst>
              <a:ext uri="{FF2B5EF4-FFF2-40B4-BE49-F238E27FC236}">
                <a16:creationId xmlns:a16="http://schemas.microsoft.com/office/drawing/2014/main" id="{C00A8D8E-E3C0-BBE0-0A35-714183862D78}"/>
              </a:ext>
            </a:extLst>
          </p:cNvPr>
          <p:cNvSpPr txBox="1"/>
          <p:nvPr/>
        </p:nvSpPr>
        <p:spPr>
          <a:xfrm>
            <a:off x="7917220" y="3350639"/>
            <a:ext cx="8658973" cy="3970318"/>
          </a:xfrm>
          <a:prstGeom prst="rect">
            <a:avLst/>
          </a:prstGeom>
          <a:noFill/>
        </p:spPr>
        <p:txBody>
          <a:bodyPr wrap="none" rtlCol="0">
            <a:spAutoFit/>
          </a:bodyPr>
          <a:lstStyle/>
          <a:p>
            <a:pPr marL="285750" indent="-285750">
              <a:buFont typeface="Wingdings" panose="05000000000000000000" pitchFamily="2" charset="2"/>
              <a:buChar char="ü"/>
            </a:pPr>
            <a:r>
              <a:rPr lang="en-GB" sz="3600" dirty="0"/>
              <a:t>  Transparent and real time tallying of votes</a:t>
            </a:r>
          </a:p>
          <a:p>
            <a:pPr marL="285750" indent="-285750">
              <a:buFont typeface="Wingdings" panose="05000000000000000000" pitchFamily="2" charset="2"/>
              <a:buChar char="ü"/>
            </a:pPr>
            <a:r>
              <a:rPr lang="en-GB" sz="3600" dirty="0"/>
              <a:t>  Secure voting process</a:t>
            </a:r>
          </a:p>
          <a:p>
            <a:pPr marL="285750" indent="-285750">
              <a:buFont typeface="Wingdings" panose="05000000000000000000" pitchFamily="2" charset="2"/>
              <a:buChar char="ü"/>
            </a:pPr>
            <a:r>
              <a:rPr lang="en-GB" sz="3600" dirty="0"/>
              <a:t>  No middlemen just, smart contracts</a:t>
            </a:r>
          </a:p>
          <a:p>
            <a:pPr marL="285750" indent="-285750">
              <a:buFont typeface="Wingdings" panose="05000000000000000000" pitchFamily="2" charset="2"/>
              <a:buChar char="ü"/>
            </a:pPr>
            <a:r>
              <a:rPr lang="en-GB" sz="3600" dirty="0"/>
              <a:t>  Vote from the comfort of your home</a:t>
            </a:r>
          </a:p>
          <a:p>
            <a:pPr marL="285750" indent="-285750">
              <a:buFont typeface="Wingdings" panose="05000000000000000000" pitchFamily="2" charset="2"/>
              <a:buChar char="ü"/>
            </a:pPr>
            <a:r>
              <a:rPr lang="en-GB" sz="3600" dirty="0"/>
              <a:t>  Privacy is top notch</a:t>
            </a:r>
          </a:p>
          <a:p>
            <a:pPr marL="285750" indent="-285750">
              <a:buFont typeface="Wingdings" panose="05000000000000000000" pitchFamily="2" charset="2"/>
              <a:buChar char="ü"/>
            </a:pPr>
            <a:r>
              <a:rPr lang="en-GB" sz="3600" dirty="0"/>
              <a:t>  User-friendly interface any Device</a:t>
            </a:r>
          </a:p>
          <a:p>
            <a:pPr marL="285750" indent="-285750">
              <a:buFont typeface="Wingdings" panose="05000000000000000000" pitchFamily="2" charset="2"/>
              <a:buChar char="ü"/>
            </a:pPr>
            <a:r>
              <a:rPr lang="en-GB" sz="3600" dirty="0"/>
              <a:t>  No chance for spoilt vote or double-voting</a:t>
            </a:r>
            <a:endParaRPr lang="en-KE"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7FA"/>
        </a:solidFill>
        <a:effectLst/>
      </p:bgPr>
    </p:bg>
    <p:spTree>
      <p:nvGrpSpPr>
        <p:cNvPr id="1" name=""/>
        <p:cNvGrpSpPr/>
        <p:nvPr/>
      </p:nvGrpSpPr>
      <p:grpSpPr>
        <a:xfrm>
          <a:off x="0" y="0"/>
          <a:ext cx="0" cy="0"/>
          <a:chOff x="0" y="0"/>
          <a:chExt cx="0" cy="0"/>
        </a:xfrm>
      </p:grpSpPr>
      <p:grpSp>
        <p:nvGrpSpPr>
          <p:cNvPr id="2" name="Group 2"/>
          <p:cNvGrpSpPr/>
          <p:nvPr/>
        </p:nvGrpSpPr>
        <p:grpSpPr>
          <a:xfrm>
            <a:off x="6100056" y="1596726"/>
            <a:ext cx="9368543" cy="2459955"/>
            <a:chOff x="0" y="0"/>
            <a:chExt cx="12110334" cy="3279941"/>
          </a:xfrm>
        </p:grpSpPr>
        <p:sp>
          <p:nvSpPr>
            <p:cNvPr id="3" name="TextBox 3"/>
            <p:cNvSpPr txBox="1"/>
            <p:nvPr/>
          </p:nvSpPr>
          <p:spPr>
            <a:xfrm>
              <a:off x="0" y="0"/>
              <a:ext cx="12110334" cy="1658574"/>
            </a:xfrm>
            <a:prstGeom prst="rect">
              <a:avLst/>
            </a:prstGeom>
          </p:spPr>
          <p:txBody>
            <a:bodyPr lIns="0" tIns="0" rIns="0" bIns="0" rtlCol="0" anchor="t">
              <a:spAutoFit/>
            </a:bodyPr>
            <a:lstStyle/>
            <a:p>
              <a:pPr marL="0" lvl="0" indent="0" algn="l">
                <a:lnSpc>
                  <a:spcPts val="9720"/>
                </a:lnSpc>
              </a:pPr>
              <a:r>
                <a:rPr lang="en-US" sz="8100" b="1" dirty="0">
                  <a:solidFill>
                    <a:srgbClr val="000000"/>
                  </a:solidFill>
                  <a:latin typeface="Barlow Semi-Bold"/>
                  <a:ea typeface="Barlow Semi-Bold"/>
                  <a:cs typeface="Barlow Semi-Bold"/>
                  <a:sym typeface="Barlow Semi-Bold"/>
                </a:rPr>
                <a:t>1</a:t>
              </a:r>
              <a:r>
                <a:rPr lang="en-US" sz="8100" b="1" u="none" dirty="0">
                  <a:solidFill>
                    <a:srgbClr val="000000"/>
                  </a:solidFill>
                  <a:latin typeface="Barlow Semi-Bold"/>
                  <a:ea typeface="Barlow Semi-Bold"/>
                  <a:cs typeface="Barlow Semi-Bold"/>
                  <a:sym typeface="Barlow Semi-Bold"/>
                </a:rPr>
                <a:t> out 5</a:t>
              </a:r>
            </a:p>
          </p:txBody>
        </p:sp>
        <p:sp>
          <p:nvSpPr>
            <p:cNvPr id="4" name="TextBox 4"/>
            <p:cNvSpPr txBox="1"/>
            <p:nvPr/>
          </p:nvSpPr>
          <p:spPr>
            <a:xfrm>
              <a:off x="0" y="1823986"/>
              <a:ext cx="12110334" cy="1455955"/>
            </a:xfrm>
            <a:prstGeom prst="rect">
              <a:avLst/>
            </a:prstGeom>
          </p:spPr>
          <p:txBody>
            <a:bodyPr lIns="0" tIns="0" rIns="0" bIns="0" rtlCol="0" anchor="t">
              <a:spAutoFit/>
            </a:bodyPr>
            <a:lstStyle/>
            <a:p>
              <a:pPr algn="l">
                <a:lnSpc>
                  <a:spcPts val="4479"/>
                </a:lnSpc>
              </a:pPr>
              <a:r>
                <a:rPr lang="en-US" sz="3199" b="1" dirty="0">
                  <a:solidFill>
                    <a:srgbClr val="000000"/>
                  </a:solidFill>
                  <a:latin typeface="Barlow Medium"/>
                  <a:ea typeface="Barlow Medium"/>
                  <a:cs typeface="Barlow Medium"/>
                  <a:sym typeface="Barlow Medium"/>
                </a:rPr>
                <a:t>Kenyans have faith and trust in the current IEBC system</a:t>
              </a:r>
            </a:p>
          </p:txBody>
        </p:sp>
      </p:grpSp>
      <p:grpSp>
        <p:nvGrpSpPr>
          <p:cNvPr id="5" name="Group 5"/>
          <p:cNvGrpSpPr/>
          <p:nvPr/>
        </p:nvGrpSpPr>
        <p:grpSpPr>
          <a:xfrm>
            <a:off x="6100057" y="4720014"/>
            <a:ext cx="9082750" cy="1898690"/>
            <a:chOff x="0" y="0"/>
            <a:chExt cx="12110334" cy="2531587"/>
          </a:xfrm>
        </p:grpSpPr>
        <p:sp>
          <p:nvSpPr>
            <p:cNvPr id="6" name="TextBox 6"/>
            <p:cNvSpPr txBox="1"/>
            <p:nvPr/>
          </p:nvSpPr>
          <p:spPr>
            <a:xfrm>
              <a:off x="0" y="0"/>
              <a:ext cx="12110334" cy="1658574"/>
            </a:xfrm>
            <a:prstGeom prst="rect">
              <a:avLst/>
            </a:prstGeom>
          </p:spPr>
          <p:txBody>
            <a:bodyPr lIns="0" tIns="0" rIns="0" bIns="0" rtlCol="0" anchor="t">
              <a:spAutoFit/>
            </a:bodyPr>
            <a:lstStyle/>
            <a:p>
              <a:pPr marL="0" lvl="0" indent="0" algn="l">
                <a:lnSpc>
                  <a:spcPts val="9720"/>
                </a:lnSpc>
              </a:pPr>
              <a:r>
                <a:rPr lang="en-US" sz="8100" b="1" dirty="0">
                  <a:solidFill>
                    <a:srgbClr val="000000"/>
                  </a:solidFill>
                  <a:latin typeface="Barlow Semi-Bold"/>
                  <a:ea typeface="Barlow Semi-Bold"/>
                  <a:cs typeface="Barlow Semi-Bold"/>
                  <a:sym typeface="Barlow Semi-Bold"/>
                </a:rPr>
                <a:t>8</a:t>
              </a:r>
              <a:r>
                <a:rPr lang="en-US" sz="8100" b="1" u="none" dirty="0">
                  <a:solidFill>
                    <a:srgbClr val="000000"/>
                  </a:solidFill>
                  <a:latin typeface="Barlow Semi-Bold"/>
                  <a:ea typeface="Barlow Semi-Bold"/>
                  <a:cs typeface="Barlow Semi-Bold"/>
                  <a:sym typeface="Barlow Semi-Bold"/>
                </a:rPr>
                <a:t>5%</a:t>
              </a:r>
            </a:p>
          </p:txBody>
        </p:sp>
        <p:sp>
          <p:nvSpPr>
            <p:cNvPr id="7" name="TextBox 7"/>
            <p:cNvSpPr txBox="1"/>
            <p:nvPr/>
          </p:nvSpPr>
          <p:spPr>
            <a:xfrm>
              <a:off x="0" y="1823985"/>
              <a:ext cx="12110334" cy="707602"/>
            </a:xfrm>
            <a:prstGeom prst="rect">
              <a:avLst/>
            </a:prstGeom>
          </p:spPr>
          <p:txBody>
            <a:bodyPr lIns="0" tIns="0" rIns="0" bIns="0" rtlCol="0" anchor="t">
              <a:spAutoFit/>
            </a:bodyPr>
            <a:lstStyle/>
            <a:p>
              <a:pPr algn="l">
                <a:lnSpc>
                  <a:spcPts val="4479"/>
                </a:lnSpc>
              </a:pPr>
              <a:r>
                <a:rPr lang="en-US" sz="3199" b="1" dirty="0">
                  <a:solidFill>
                    <a:srgbClr val="000000"/>
                  </a:solidFill>
                  <a:latin typeface="Barlow Medium"/>
                  <a:ea typeface="Barlow Medium"/>
                  <a:cs typeface="Barlow Medium"/>
                  <a:sym typeface="Barlow Medium"/>
                </a:rPr>
                <a:t>Believe in the need to digitize the IEBC system</a:t>
              </a:r>
            </a:p>
          </p:txBody>
        </p:sp>
      </p:grpSp>
      <p:grpSp>
        <p:nvGrpSpPr>
          <p:cNvPr id="8" name="Group 8"/>
          <p:cNvGrpSpPr/>
          <p:nvPr/>
        </p:nvGrpSpPr>
        <p:grpSpPr>
          <a:xfrm>
            <a:off x="6100057" y="7337777"/>
            <a:ext cx="9082750" cy="1898690"/>
            <a:chOff x="0" y="0"/>
            <a:chExt cx="12110334" cy="2531587"/>
          </a:xfrm>
        </p:grpSpPr>
        <p:sp>
          <p:nvSpPr>
            <p:cNvPr id="9" name="TextBox 9"/>
            <p:cNvSpPr txBox="1"/>
            <p:nvPr/>
          </p:nvSpPr>
          <p:spPr>
            <a:xfrm>
              <a:off x="0" y="0"/>
              <a:ext cx="12110334" cy="1658574"/>
            </a:xfrm>
            <a:prstGeom prst="rect">
              <a:avLst/>
            </a:prstGeom>
          </p:spPr>
          <p:txBody>
            <a:bodyPr lIns="0" tIns="0" rIns="0" bIns="0" rtlCol="0" anchor="t">
              <a:spAutoFit/>
            </a:bodyPr>
            <a:lstStyle/>
            <a:p>
              <a:pPr marL="0" lvl="0" indent="0" algn="l">
                <a:lnSpc>
                  <a:spcPts val="9720"/>
                </a:lnSpc>
              </a:pPr>
              <a:r>
                <a:rPr lang="en-US" sz="8100" b="1" dirty="0">
                  <a:solidFill>
                    <a:srgbClr val="000000"/>
                  </a:solidFill>
                  <a:latin typeface="Barlow Semi-Bold"/>
                  <a:ea typeface="Barlow Semi-Bold"/>
                  <a:cs typeface="Barlow Semi-Bold"/>
                  <a:sym typeface="Barlow Semi-Bold"/>
                </a:rPr>
                <a:t>20</a:t>
              </a:r>
              <a:r>
                <a:rPr lang="en-US" sz="8100" b="1" u="none" dirty="0">
                  <a:solidFill>
                    <a:srgbClr val="000000"/>
                  </a:solidFill>
                  <a:latin typeface="Barlow Semi-Bold"/>
                  <a:ea typeface="Barlow Semi-Bold"/>
                  <a:cs typeface="Barlow Semi-Bold"/>
                  <a:sym typeface="Barlow Semi-Bold"/>
                </a:rPr>
                <a:t> million +</a:t>
              </a:r>
            </a:p>
          </p:txBody>
        </p:sp>
        <p:sp>
          <p:nvSpPr>
            <p:cNvPr id="10" name="TextBox 10"/>
            <p:cNvSpPr txBox="1"/>
            <p:nvPr/>
          </p:nvSpPr>
          <p:spPr>
            <a:xfrm>
              <a:off x="0" y="1823985"/>
              <a:ext cx="12110334" cy="707602"/>
            </a:xfrm>
            <a:prstGeom prst="rect">
              <a:avLst/>
            </a:prstGeom>
          </p:spPr>
          <p:txBody>
            <a:bodyPr lIns="0" tIns="0" rIns="0" bIns="0" rtlCol="0" anchor="t">
              <a:spAutoFit/>
            </a:bodyPr>
            <a:lstStyle/>
            <a:p>
              <a:pPr algn="l">
                <a:lnSpc>
                  <a:spcPts val="4479"/>
                </a:lnSpc>
              </a:pPr>
              <a:r>
                <a:rPr lang="en-US" sz="3199" b="1" dirty="0">
                  <a:solidFill>
                    <a:srgbClr val="000000"/>
                  </a:solidFill>
                  <a:latin typeface="Barlow Medium"/>
                  <a:ea typeface="Barlow Medium"/>
                  <a:cs typeface="Barlow Medium"/>
                  <a:sym typeface="Barlow Medium"/>
                </a:rPr>
                <a:t>Have smartphones and can access the internet</a:t>
              </a:r>
            </a:p>
          </p:txBody>
        </p:sp>
      </p:grpSp>
      <p:pic>
        <p:nvPicPr>
          <p:cNvPr id="11" name="Picture 11"/>
          <p:cNvPicPr>
            <a:picLocks noChangeAspect="1"/>
          </p:cNvPicPr>
          <p:nvPr/>
        </p:nvPicPr>
        <p:blipFill>
          <a:blip r:embed="rId2"/>
          <a:stretch>
            <a:fillRect/>
          </a:stretch>
        </p:blipFill>
        <p:spPr>
          <a:xfrm>
            <a:off x="674552" y="4493818"/>
            <a:ext cx="4249772" cy="2479033"/>
          </a:xfrm>
          <a:prstGeom prst="rect">
            <a:avLst/>
          </a:prstGeom>
        </p:spPr>
      </p:pic>
      <p:pic>
        <p:nvPicPr>
          <p:cNvPr id="12" name="Picture 12"/>
          <p:cNvPicPr>
            <a:picLocks noChangeAspect="1"/>
          </p:cNvPicPr>
          <p:nvPr/>
        </p:nvPicPr>
        <p:blipFill>
          <a:blip r:embed="rId3"/>
          <a:stretch>
            <a:fillRect/>
          </a:stretch>
        </p:blipFill>
        <p:spPr>
          <a:xfrm>
            <a:off x="674552" y="7932974"/>
            <a:ext cx="4249772" cy="1345761"/>
          </a:xfrm>
          <a:prstGeom prst="rect">
            <a:avLst/>
          </a:prstGeom>
        </p:spPr>
      </p:pic>
      <p:pic>
        <p:nvPicPr>
          <p:cNvPr id="13" name="Picture 13"/>
          <p:cNvPicPr>
            <a:picLocks noChangeAspect="1"/>
          </p:cNvPicPr>
          <p:nvPr/>
        </p:nvPicPr>
        <p:blipFill>
          <a:blip r:embed="rId4"/>
          <a:stretch>
            <a:fillRect/>
          </a:stretch>
        </p:blipFill>
        <p:spPr>
          <a:xfrm>
            <a:off x="674552" y="1930507"/>
            <a:ext cx="4249772" cy="1919056"/>
          </a:xfrm>
          <a:prstGeom prst="rect">
            <a:avLst/>
          </a:prstGeom>
        </p:spPr>
      </p:pic>
      <p:sp>
        <p:nvSpPr>
          <p:cNvPr id="14" name="TextBox 14"/>
          <p:cNvSpPr txBox="1"/>
          <p:nvPr/>
        </p:nvSpPr>
        <p:spPr>
          <a:xfrm>
            <a:off x="17050357" y="9484941"/>
            <a:ext cx="798886" cy="347980"/>
          </a:xfrm>
          <a:prstGeom prst="rect">
            <a:avLst/>
          </a:prstGeom>
        </p:spPr>
        <p:txBody>
          <a:bodyPr lIns="0" tIns="0" rIns="0" bIns="0" rtlCol="0" anchor="t">
            <a:spAutoFit/>
          </a:bodyPr>
          <a:lstStyle/>
          <a:p>
            <a:pPr algn="r">
              <a:lnSpc>
                <a:spcPts val="2749"/>
              </a:lnSpc>
            </a:pPr>
            <a:r>
              <a:rPr lang="en-US" sz="2199" b="1">
                <a:solidFill>
                  <a:srgbClr val="90113E"/>
                </a:solidFill>
                <a:latin typeface="Barlow Semi-Bold"/>
                <a:ea typeface="Barlow Semi-Bold"/>
                <a:cs typeface="Barlow Semi-Bold"/>
                <a:sym typeface="Barlow Semi-Bold"/>
              </a:rPr>
              <a:t>14</a:t>
            </a:r>
          </a:p>
        </p:txBody>
      </p:sp>
      <p:sp>
        <p:nvSpPr>
          <p:cNvPr id="15" name="TextBox 15"/>
          <p:cNvSpPr txBox="1"/>
          <p:nvPr/>
        </p:nvSpPr>
        <p:spPr>
          <a:xfrm>
            <a:off x="1558682" y="0"/>
            <a:ext cx="11014318" cy="1243930"/>
          </a:xfrm>
          <a:prstGeom prst="rect">
            <a:avLst/>
          </a:prstGeom>
        </p:spPr>
        <p:txBody>
          <a:bodyPr wrap="square" lIns="0" tIns="0" rIns="0" bIns="0" rtlCol="0" anchor="t">
            <a:spAutoFit/>
          </a:bodyPr>
          <a:lstStyle/>
          <a:p>
            <a:pPr marL="0" lvl="0" indent="0" algn="l">
              <a:lnSpc>
                <a:spcPts val="9720"/>
              </a:lnSpc>
            </a:pPr>
            <a:r>
              <a:rPr lang="en-US" sz="8100" b="1" dirty="0">
                <a:solidFill>
                  <a:srgbClr val="0BB6BC"/>
                </a:solidFill>
                <a:latin typeface="Barlow Semi-Bold"/>
                <a:ea typeface="Barlow Semi-Bold"/>
                <a:cs typeface="Barlow Semi-Bold"/>
                <a:sym typeface="Barlow Semi-Bold"/>
              </a:rPr>
              <a:t>Target Market in Kenya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8153400" y="1553483"/>
            <a:ext cx="8904202" cy="8270391"/>
          </a:xfrm>
          <a:prstGeom prst="rect">
            <a:avLst/>
          </a:prstGeom>
        </p:spPr>
      </p:pic>
      <p:sp>
        <p:nvSpPr>
          <p:cNvPr id="3" name="TextBox 3"/>
          <p:cNvSpPr txBox="1"/>
          <p:nvPr/>
        </p:nvSpPr>
        <p:spPr>
          <a:xfrm>
            <a:off x="1028700" y="2386178"/>
            <a:ext cx="7372995" cy="2212144"/>
          </a:xfrm>
          <a:prstGeom prst="rect">
            <a:avLst/>
          </a:prstGeom>
        </p:spPr>
        <p:txBody>
          <a:bodyPr lIns="0" tIns="0" rIns="0" bIns="0" rtlCol="0" anchor="t">
            <a:spAutoFit/>
          </a:bodyPr>
          <a:lstStyle/>
          <a:p>
            <a:pPr algn="l">
              <a:lnSpc>
                <a:spcPts val="4499"/>
              </a:lnSpc>
            </a:pPr>
            <a:r>
              <a:rPr lang="en-US" sz="2999" u="none" dirty="0">
                <a:solidFill>
                  <a:srgbClr val="000000"/>
                </a:solidFill>
                <a:latin typeface="Barlow"/>
                <a:ea typeface="Barlow"/>
                <a:cs typeface="Barlow"/>
                <a:sym typeface="Barlow"/>
              </a:rPr>
              <a:t>Our blockchain based system is relevant in many organizations that require electoral justice and confidence</a:t>
            </a:r>
          </a:p>
          <a:p>
            <a:pPr algn="l">
              <a:lnSpc>
                <a:spcPts val="4199"/>
              </a:lnSpc>
            </a:pPr>
            <a:endParaRPr lang="en-US" sz="2999" u="none" dirty="0">
              <a:solidFill>
                <a:srgbClr val="000000"/>
              </a:solidFill>
              <a:latin typeface="Barlow"/>
              <a:ea typeface="Barlow"/>
              <a:cs typeface="Barlow"/>
              <a:sym typeface="Barlow"/>
            </a:endParaRPr>
          </a:p>
        </p:txBody>
      </p:sp>
      <p:sp>
        <p:nvSpPr>
          <p:cNvPr id="4" name="TextBox 4"/>
          <p:cNvSpPr txBox="1"/>
          <p:nvPr/>
        </p:nvSpPr>
        <p:spPr>
          <a:xfrm>
            <a:off x="1028700" y="622869"/>
            <a:ext cx="6896736" cy="1228725"/>
          </a:xfrm>
          <a:prstGeom prst="rect">
            <a:avLst/>
          </a:prstGeom>
        </p:spPr>
        <p:txBody>
          <a:bodyPr lIns="0" tIns="0" rIns="0" bIns="0" rtlCol="0" anchor="t">
            <a:spAutoFit/>
          </a:bodyPr>
          <a:lstStyle/>
          <a:p>
            <a:pPr marL="0" lvl="0" indent="0" algn="l">
              <a:lnSpc>
                <a:spcPts val="9720"/>
              </a:lnSpc>
              <a:spcBef>
                <a:spcPct val="0"/>
              </a:spcBef>
            </a:pPr>
            <a:r>
              <a:rPr lang="en-US" sz="8100" b="1">
                <a:solidFill>
                  <a:srgbClr val="0BB6BC"/>
                </a:solidFill>
                <a:latin typeface="Barlow Bold"/>
                <a:ea typeface="Barlow Bold"/>
                <a:cs typeface="Barlow Bold"/>
                <a:sym typeface="Barlow Bold"/>
              </a:rPr>
              <a:t>Market Size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703359" y="3971075"/>
            <a:ext cx="14881282" cy="602142"/>
          </a:xfrm>
          <a:prstGeom prst="rect">
            <a:avLst/>
          </a:prstGeom>
          <a:solidFill>
            <a:srgbClr val="90113E">
              <a:alpha val="1961"/>
            </a:srgbClr>
          </a:solidFill>
        </p:spPr>
      </p:sp>
      <p:sp>
        <p:nvSpPr>
          <p:cNvPr id="3" name="AutoShape 3"/>
          <p:cNvSpPr/>
          <p:nvPr/>
        </p:nvSpPr>
        <p:spPr>
          <a:xfrm>
            <a:off x="1703359" y="5158824"/>
            <a:ext cx="14881282" cy="602142"/>
          </a:xfrm>
          <a:prstGeom prst="rect">
            <a:avLst/>
          </a:prstGeom>
          <a:solidFill>
            <a:srgbClr val="90113E">
              <a:alpha val="1961"/>
            </a:srgbClr>
          </a:solidFill>
        </p:spPr>
      </p:sp>
      <p:sp>
        <p:nvSpPr>
          <p:cNvPr id="4" name="AutoShape 4"/>
          <p:cNvSpPr/>
          <p:nvPr/>
        </p:nvSpPr>
        <p:spPr>
          <a:xfrm>
            <a:off x="1703359" y="6346573"/>
            <a:ext cx="14881282" cy="602142"/>
          </a:xfrm>
          <a:prstGeom prst="rect">
            <a:avLst/>
          </a:prstGeom>
          <a:solidFill>
            <a:srgbClr val="90113E">
              <a:alpha val="1961"/>
            </a:srgbClr>
          </a:solidFill>
        </p:spPr>
      </p:sp>
      <p:sp>
        <p:nvSpPr>
          <p:cNvPr id="5" name="AutoShape 5"/>
          <p:cNvSpPr/>
          <p:nvPr/>
        </p:nvSpPr>
        <p:spPr>
          <a:xfrm>
            <a:off x="1703359" y="7534322"/>
            <a:ext cx="14881282" cy="602142"/>
          </a:xfrm>
          <a:prstGeom prst="rect">
            <a:avLst/>
          </a:prstGeom>
          <a:solidFill>
            <a:srgbClr val="90113E">
              <a:alpha val="1961"/>
            </a:srgbClr>
          </a:solidFill>
        </p:spPr>
      </p:sp>
      <p:sp>
        <p:nvSpPr>
          <p:cNvPr id="6" name="AutoShape 6"/>
          <p:cNvSpPr/>
          <p:nvPr/>
        </p:nvSpPr>
        <p:spPr>
          <a:xfrm>
            <a:off x="-602092" y="8998522"/>
            <a:ext cx="18890092" cy="2585870"/>
          </a:xfrm>
          <a:prstGeom prst="rect">
            <a:avLst/>
          </a:prstGeom>
          <a:solidFill>
            <a:srgbClr val="90113E"/>
          </a:solidFill>
        </p:spPr>
      </p:sp>
      <p:grpSp>
        <p:nvGrpSpPr>
          <p:cNvPr id="7" name="Group 7"/>
          <p:cNvGrpSpPr>
            <a:grpSpLocks noChangeAspect="1"/>
          </p:cNvGrpSpPr>
          <p:nvPr/>
        </p:nvGrpSpPr>
        <p:grpSpPr>
          <a:xfrm>
            <a:off x="0" y="0"/>
            <a:ext cx="6812379" cy="8998522"/>
            <a:chOff x="0" y="0"/>
            <a:chExt cx="6438900" cy="8505190"/>
          </a:xfrm>
        </p:grpSpPr>
        <p:sp>
          <p:nvSpPr>
            <p:cNvPr id="8" name="Freeform 8"/>
            <p:cNvSpPr/>
            <p:nvPr/>
          </p:nvSpPr>
          <p:spPr>
            <a:xfrm>
              <a:off x="0" y="0"/>
              <a:ext cx="6438900" cy="8505190"/>
            </a:xfrm>
            <a:custGeom>
              <a:avLst/>
              <a:gdLst/>
              <a:ahLst/>
              <a:cxnLst/>
              <a:rect l="l" t="t" r="r" b="b"/>
              <a:pathLst>
                <a:path w="6438900" h="8505190">
                  <a:moveTo>
                    <a:pt x="4916170" y="8505190"/>
                  </a:moveTo>
                  <a:lnTo>
                    <a:pt x="4627880" y="8505190"/>
                  </a:lnTo>
                  <a:lnTo>
                    <a:pt x="0" y="8072120"/>
                  </a:lnTo>
                  <a:lnTo>
                    <a:pt x="0" y="4405630"/>
                  </a:lnTo>
                  <a:lnTo>
                    <a:pt x="910590" y="0"/>
                  </a:lnTo>
                  <a:lnTo>
                    <a:pt x="6438900" y="0"/>
                  </a:lnTo>
                  <a:lnTo>
                    <a:pt x="6438900" y="671830"/>
                  </a:lnTo>
                  <a:lnTo>
                    <a:pt x="4916170" y="8505190"/>
                  </a:lnTo>
                  <a:close/>
                </a:path>
              </a:pathLst>
            </a:custGeom>
            <a:blipFill>
              <a:blip r:embed="rId2"/>
              <a:stretch>
                <a:fillRect l="-65869" r="-65869"/>
              </a:stretch>
            </a:blipFill>
          </p:spPr>
        </p:sp>
        <p:sp>
          <p:nvSpPr>
            <p:cNvPr id="9" name="Freeform 9"/>
            <p:cNvSpPr/>
            <p:nvPr/>
          </p:nvSpPr>
          <p:spPr>
            <a:xfrm>
              <a:off x="0" y="0"/>
              <a:ext cx="6438900" cy="8505190"/>
            </a:xfrm>
            <a:custGeom>
              <a:avLst/>
              <a:gdLst/>
              <a:ahLst/>
              <a:cxnLst/>
              <a:rect l="l" t="t" r="r" b="b"/>
              <a:pathLst>
                <a:path w="6438900" h="8505190">
                  <a:moveTo>
                    <a:pt x="910590" y="0"/>
                  </a:moveTo>
                  <a:lnTo>
                    <a:pt x="1898650" y="289560"/>
                  </a:lnTo>
                  <a:lnTo>
                    <a:pt x="0" y="4405630"/>
                  </a:lnTo>
                  <a:lnTo>
                    <a:pt x="910590" y="0"/>
                  </a:lnTo>
                  <a:close/>
                  <a:moveTo>
                    <a:pt x="3253740" y="8047990"/>
                  </a:moveTo>
                  <a:lnTo>
                    <a:pt x="4916170" y="8505190"/>
                  </a:lnTo>
                  <a:lnTo>
                    <a:pt x="6438900" y="671830"/>
                  </a:lnTo>
                  <a:lnTo>
                    <a:pt x="3253740" y="8047990"/>
                  </a:lnTo>
                  <a:close/>
                </a:path>
              </a:pathLst>
            </a:custGeom>
            <a:solidFill>
              <a:srgbClr val="0BB6BC"/>
            </a:solidFill>
          </p:spPr>
        </p:sp>
      </p:grpSp>
      <p:sp>
        <p:nvSpPr>
          <p:cNvPr id="10" name="TextBox 10"/>
          <p:cNvSpPr txBox="1"/>
          <p:nvPr/>
        </p:nvSpPr>
        <p:spPr>
          <a:xfrm>
            <a:off x="9375704" y="2057820"/>
            <a:ext cx="8473539" cy="3660617"/>
          </a:xfrm>
          <a:prstGeom prst="rect">
            <a:avLst/>
          </a:prstGeom>
        </p:spPr>
        <p:txBody>
          <a:bodyPr lIns="0" tIns="0" rIns="0" bIns="0" rtlCol="0" anchor="t">
            <a:spAutoFit/>
          </a:bodyPr>
          <a:lstStyle/>
          <a:p>
            <a:pPr marL="0" lvl="0" indent="0" algn="just">
              <a:lnSpc>
                <a:spcPts val="4059"/>
              </a:lnSpc>
              <a:spcBef>
                <a:spcPct val="0"/>
              </a:spcBef>
            </a:pPr>
            <a:r>
              <a:rPr lang="en-US" sz="2899" dirty="0">
                <a:solidFill>
                  <a:srgbClr val="000000"/>
                </a:solidFill>
                <a:latin typeface="Garet"/>
                <a:ea typeface="Garet"/>
                <a:cs typeface="Garet"/>
                <a:sym typeface="Garet"/>
              </a:rPr>
              <a:t>We have the current IEBC system that requires manual counting and Data entry , tallying etc. </a:t>
            </a:r>
          </a:p>
          <a:p>
            <a:pPr marL="0" lvl="0" indent="0" algn="just">
              <a:lnSpc>
                <a:spcPts val="4059"/>
              </a:lnSpc>
              <a:spcBef>
                <a:spcPct val="0"/>
              </a:spcBef>
            </a:pPr>
            <a:r>
              <a:rPr lang="en-US" sz="2899" dirty="0">
                <a:solidFill>
                  <a:srgbClr val="000000"/>
                </a:solidFill>
                <a:latin typeface="Garet"/>
                <a:ea typeface="Garet"/>
                <a:cs typeface="Garet"/>
                <a:sym typeface="Garet"/>
              </a:rPr>
              <a:t>We have other online voting systems that have automated the processes but are highly vulnerable as they use the normal databases to store records</a:t>
            </a:r>
          </a:p>
        </p:txBody>
      </p:sp>
      <p:sp>
        <p:nvSpPr>
          <p:cNvPr id="11" name="TextBox 11"/>
          <p:cNvSpPr txBox="1"/>
          <p:nvPr/>
        </p:nvSpPr>
        <p:spPr>
          <a:xfrm>
            <a:off x="8508761" y="257175"/>
            <a:ext cx="8750539" cy="1238250"/>
          </a:xfrm>
          <a:prstGeom prst="rect">
            <a:avLst/>
          </a:prstGeom>
        </p:spPr>
        <p:txBody>
          <a:bodyPr lIns="0" tIns="0" rIns="0" bIns="0" rtlCol="0" anchor="t">
            <a:spAutoFit/>
          </a:bodyPr>
          <a:lstStyle/>
          <a:p>
            <a:pPr marL="0" lvl="0" indent="0" algn="ctr">
              <a:lnSpc>
                <a:spcPts val="9719"/>
              </a:lnSpc>
            </a:pPr>
            <a:r>
              <a:rPr lang="en-US" sz="8099" b="1">
                <a:solidFill>
                  <a:srgbClr val="0BB6BC"/>
                </a:solidFill>
                <a:latin typeface="Barlow Bold"/>
                <a:ea typeface="Barlow Bold"/>
                <a:cs typeface="Barlow Bold"/>
                <a:sym typeface="Barlow Bold"/>
              </a:rPr>
              <a:t>Competitors</a:t>
            </a:r>
          </a:p>
        </p:txBody>
      </p:sp>
      <p:sp>
        <p:nvSpPr>
          <p:cNvPr id="12" name="TextBox 12"/>
          <p:cNvSpPr txBox="1"/>
          <p:nvPr/>
        </p:nvSpPr>
        <p:spPr>
          <a:xfrm>
            <a:off x="17050357" y="9484941"/>
            <a:ext cx="798886" cy="347980"/>
          </a:xfrm>
          <a:prstGeom prst="rect">
            <a:avLst/>
          </a:prstGeom>
        </p:spPr>
        <p:txBody>
          <a:bodyPr lIns="0" tIns="0" rIns="0" bIns="0" rtlCol="0" anchor="t">
            <a:spAutoFit/>
          </a:bodyPr>
          <a:lstStyle/>
          <a:p>
            <a:pPr algn="r">
              <a:lnSpc>
                <a:spcPts val="2749"/>
              </a:lnSpc>
            </a:pPr>
            <a:r>
              <a:rPr lang="en-US" sz="2199" b="1">
                <a:solidFill>
                  <a:srgbClr val="000000"/>
                </a:solidFill>
                <a:latin typeface="Barlow Semi-Bold"/>
                <a:ea typeface="Barlow Semi-Bold"/>
                <a:cs typeface="Barlow Semi-Bold"/>
                <a:sym typeface="Barlow Semi-Bold"/>
              </a:rPr>
              <a:t>23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05725" y="1028700"/>
            <a:ext cx="13944632" cy="1985652"/>
            <a:chOff x="0" y="0"/>
            <a:chExt cx="18592843" cy="2647536"/>
          </a:xfrm>
        </p:grpSpPr>
        <p:sp>
          <p:nvSpPr>
            <p:cNvPr id="3" name="TextBox 3"/>
            <p:cNvSpPr txBox="1"/>
            <p:nvPr/>
          </p:nvSpPr>
          <p:spPr>
            <a:xfrm>
              <a:off x="0" y="0"/>
              <a:ext cx="18592843" cy="1638300"/>
            </a:xfrm>
            <a:prstGeom prst="rect">
              <a:avLst/>
            </a:prstGeom>
          </p:spPr>
          <p:txBody>
            <a:bodyPr lIns="0" tIns="0" rIns="0" bIns="0" rtlCol="0" anchor="t">
              <a:spAutoFit/>
            </a:bodyPr>
            <a:lstStyle/>
            <a:p>
              <a:pPr marL="0" lvl="0" indent="0" algn="l">
                <a:lnSpc>
                  <a:spcPts val="9720"/>
                </a:lnSpc>
              </a:pPr>
              <a:r>
                <a:rPr lang="en-US" sz="8100" b="1">
                  <a:solidFill>
                    <a:srgbClr val="0BB6BC"/>
                  </a:solidFill>
                  <a:latin typeface="Barlow Bold"/>
                  <a:ea typeface="Barlow Bold"/>
                  <a:cs typeface="Barlow Bold"/>
                  <a:sym typeface="Barlow Bold"/>
                </a:rPr>
                <a:t>Competitive Advantage</a:t>
              </a:r>
            </a:p>
          </p:txBody>
        </p:sp>
        <p:sp>
          <p:nvSpPr>
            <p:cNvPr id="4" name="TextBox 4"/>
            <p:cNvSpPr txBox="1"/>
            <p:nvPr/>
          </p:nvSpPr>
          <p:spPr>
            <a:xfrm>
              <a:off x="0" y="1939934"/>
              <a:ext cx="16429858" cy="707602"/>
            </a:xfrm>
            <a:prstGeom prst="rect">
              <a:avLst/>
            </a:prstGeom>
          </p:spPr>
          <p:txBody>
            <a:bodyPr lIns="0" tIns="0" rIns="0" bIns="0" rtlCol="0" anchor="t">
              <a:spAutoFit/>
            </a:bodyPr>
            <a:lstStyle/>
            <a:p>
              <a:pPr algn="l">
                <a:lnSpc>
                  <a:spcPts val="4479"/>
                </a:lnSpc>
              </a:pPr>
              <a:r>
                <a:rPr lang="en-US" sz="3199" b="1" dirty="0">
                  <a:solidFill>
                    <a:srgbClr val="90113E"/>
                  </a:solidFill>
                  <a:latin typeface="Barlow Medium"/>
                  <a:ea typeface="Barlow Medium"/>
                  <a:cs typeface="Barlow Medium"/>
                  <a:sym typeface="Barlow Medium"/>
                </a:rPr>
                <a:t>What makes us unique? </a:t>
              </a:r>
            </a:p>
          </p:txBody>
        </p:sp>
      </p:grpSp>
      <p:sp>
        <p:nvSpPr>
          <p:cNvPr id="5" name="AutoShape 5"/>
          <p:cNvSpPr/>
          <p:nvPr/>
        </p:nvSpPr>
        <p:spPr>
          <a:xfrm>
            <a:off x="0" y="0"/>
            <a:ext cx="1902317" cy="10287000"/>
          </a:xfrm>
          <a:prstGeom prst="rect">
            <a:avLst/>
          </a:prstGeom>
          <a:solidFill>
            <a:srgbClr val="90113E"/>
          </a:solidFill>
        </p:spPr>
      </p:sp>
      <p:sp>
        <p:nvSpPr>
          <p:cNvPr id="6" name="Freeform 6"/>
          <p:cNvSpPr/>
          <p:nvPr/>
        </p:nvSpPr>
        <p:spPr>
          <a:xfrm>
            <a:off x="-1902317" y="-84320"/>
            <a:ext cx="3804634" cy="10455640"/>
          </a:xfrm>
          <a:custGeom>
            <a:avLst/>
            <a:gdLst/>
            <a:ahLst/>
            <a:cxnLst/>
            <a:rect l="l" t="t" r="r" b="b"/>
            <a:pathLst>
              <a:path w="3804634" h="10455640">
                <a:moveTo>
                  <a:pt x="0" y="0"/>
                </a:moveTo>
                <a:lnTo>
                  <a:pt x="3804634" y="0"/>
                </a:lnTo>
                <a:lnTo>
                  <a:pt x="3804634" y="10455640"/>
                </a:lnTo>
                <a:lnTo>
                  <a:pt x="0" y="10455640"/>
                </a:lnTo>
                <a:lnTo>
                  <a:pt x="0" y="0"/>
                </a:lnTo>
                <a:close/>
              </a:path>
            </a:pathLst>
          </a:custGeom>
          <a:blipFill>
            <a:blip r:embed="rId2">
              <a:extLst>
                <a:ext uri="{96DAC541-7B7A-43D3-8B79-37D633B846F1}">
                  <asvg:svgBlip xmlns:asvg="http://schemas.microsoft.com/office/drawing/2016/SVG/main" r:embed="rId3"/>
                </a:ext>
              </a:extLst>
            </a:blip>
            <a:stretch>
              <a:fillRect r="-174813"/>
            </a:stretch>
          </a:blipFill>
        </p:spPr>
      </p:sp>
      <p:sp>
        <p:nvSpPr>
          <p:cNvPr id="7" name="TextBox 6">
            <a:extLst>
              <a:ext uri="{FF2B5EF4-FFF2-40B4-BE49-F238E27FC236}">
                <a16:creationId xmlns:a16="http://schemas.microsoft.com/office/drawing/2014/main" id="{85DB8A86-BE5F-9B8F-E8CA-B09130E12CB7}"/>
              </a:ext>
            </a:extLst>
          </p:cNvPr>
          <p:cNvSpPr txBox="1"/>
          <p:nvPr/>
        </p:nvSpPr>
        <p:spPr>
          <a:xfrm>
            <a:off x="3804634" y="4127837"/>
            <a:ext cx="12088566" cy="4832092"/>
          </a:xfrm>
          <a:prstGeom prst="rect">
            <a:avLst/>
          </a:prstGeom>
          <a:noFill/>
        </p:spPr>
        <p:txBody>
          <a:bodyPr wrap="none" rtlCol="0">
            <a:spAutoFit/>
          </a:bodyPr>
          <a:lstStyle/>
          <a:p>
            <a:pPr marL="571500" indent="-571500">
              <a:buFont typeface="Wingdings" panose="05000000000000000000" pitchFamily="2" charset="2"/>
              <a:buChar char="v"/>
            </a:pPr>
            <a:r>
              <a:rPr lang="en-GB" sz="4400" dirty="0"/>
              <a:t>Tamper proof records</a:t>
            </a:r>
          </a:p>
          <a:p>
            <a:pPr marL="571500" indent="-571500">
              <a:buFont typeface="Wingdings" panose="05000000000000000000" pitchFamily="2" charset="2"/>
              <a:buChar char="v"/>
            </a:pPr>
            <a:r>
              <a:rPr lang="en-GB" sz="4400" dirty="0"/>
              <a:t>Automated tallying </a:t>
            </a:r>
          </a:p>
          <a:p>
            <a:pPr marL="571500" indent="-571500">
              <a:buFont typeface="Wingdings" panose="05000000000000000000" pitchFamily="2" charset="2"/>
              <a:buChar char="v"/>
            </a:pPr>
            <a:r>
              <a:rPr lang="en-GB" sz="4400" dirty="0"/>
              <a:t>Transparency by live streaming the votes</a:t>
            </a:r>
          </a:p>
          <a:p>
            <a:pPr marL="571500" indent="-571500">
              <a:buFont typeface="Wingdings" panose="05000000000000000000" pitchFamily="2" charset="2"/>
              <a:buChar char="v"/>
            </a:pPr>
            <a:r>
              <a:rPr lang="en-GB" sz="4400" dirty="0"/>
              <a:t>Voter privacy </a:t>
            </a:r>
            <a:br>
              <a:rPr lang="en-GB" sz="4400" dirty="0"/>
            </a:br>
            <a:r>
              <a:rPr lang="en-GB" sz="4400" dirty="0"/>
              <a:t>Available on all platforms</a:t>
            </a:r>
          </a:p>
          <a:p>
            <a:pPr marL="571500" indent="-571500">
              <a:buFont typeface="Wingdings" panose="05000000000000000000" pitchFamily="2" charset="2"/>
              <a:buChar char="v"/>
            </a:pPr>
            <a:r>
              <a:rPr lang="en-GB" sz="4400" dirty="0"/>
              <a:t>No double voting or spoilt votes due to ignorance</a:t>
            </a:r>
          </a:p>
          <a:p>
            <a:pPr marL="571500" indent="-571500">
              <a:buFont typeface="Wingdings" panose="05000000000000000000" pitchFamily="2" charset="2"/>
              <a:buChar char="v"/>
            </a:pPr>
            <a:r>
              <a:rPr lang="en-GB" sz="4400" dirty="0"/>
              <a:t>Accessibility – Available in Swahili</a:t>
            </a:r>
            <a:endParaRPr lang="en-KE" sz="4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703359" y="3971075"/>
            <a:ext cx="14881282" cy="602142"/>
          </a:xfrm>
          <a:prstGeom prst="rect">
            <a:avLst/>
          </a:prstGeom>
          <a:solidFill>
            <a:srgbClr val="90113E">
              <a:alpha val="1961"/>
            </a:srgbClr>
          </a:solidFill>
        </p:spPr>
      </p:sp>
      <p:sp>
        <p:nvSpPr>
          <p:cNvPr id="3" name="AutoShape 3"/>
          <p:cNvSpPr/>
          <p:nvPr/>
        </p:nvSpPr>
        <p:spPr>
          <a:xfrm>
            <a:off x="1703359" y="5158824"/>
            <a:ext cx="14881282" cy="602142"/>
          </a:xfrm>
          <a:prstGeom prst="rect">
            <a:avLst/>
          </a:prstGeom>
          <a:solidFill>
            <a:srgbClr val="90113E">
              <a:alpha val="1961"/>
            </a:srgbClr>
          </a:solidFill>
        </p:spPr>
      </p:sp>
      <p:sp>
        <p:nvSpPr>
          <p:cNvPr id="4" name="AutoShape 4"/>
          <p:cNvSpPr/>
          <p:nvPr/>
        </p:nvSpPr>
        <p:spPr>
          <a:xfrm>
            <a:off x="1703359" y="6346573"/>
            <a:ext cx="14881282" cy="602142"/>
          </a:xfrm>
          <a:prstGeom prst="rect">
            <a:avLst/>
          </a:prstGeom>
          <a:solidFill>
            <a:srgbClr val="90113E">
              <a:alpha val="1961"/>
            </a:srgbClr>
          </a:solidFill>
        </p:spPr>
      </p:sp>
      <p:sp>
        <p:nvSpPr>
          <p:cNvPr id="5" name="AutoShape 5"/>
          <p:cNvSpPr/>
          <p:nvPr/>
        </p:nvSpPr>
        <p:spPr>
          <a:xfrm>
            <a:off x="1703359" y="7534322"/>
            <a:ext cx="14881282" cy="602142"/>
          </a:xfrm>
          <a:prstGeom prst="rect">
            <a:avLst/>
          </a:prstGeom>
          <a:solidFill>
            <a:srgbClr val="90113E">
              <a:alpha val="1961"/>
            </a:srgbClr>
          </a:solidFill>
        </p:spPr>
      </p:sp>
      <p:sp>
        <p:nvSpPr>
          <p:cNvPr id="6" name="AutoShape 6"/>
          <p:cNvSpPr/>
          <p:nvPr/>
        </p:nvSpPr>
        <p:spPr>
          <a:xfrm>
            <a:off x="1703359" y="3357575"/>
            <a:ext cx="14881282" cy="0"/>
          </a:xfrm>
          <a:prstGeom prst="line">
            <a:avLst/>
          </a:prstGeom>
          <a:ln w="19050" cap="flat">
            <a:solidFill>
              <a:srgbClr val="90113E"/>
            </a:solidFill>
            <a:prstDash val="solid"/>
            <a:headEnd type="none" w="sm" len="sm"/>
            <a:tailEnd type="none" w="sm" len="sm"/>
          </a:ln>
        </p:spPr>
      </p:sp>
      <p:sp>
        <p:nvSpPr>
          <p:cNvPr id="7" name="AutoShape 7"/>
          <p:cNvSpPr/>
          <p:nvPr/>
        </p:nvSpPr>
        <p:spPr>
          <a:xfrm>
            <a:off x="1703359" y="8136464"/>
            <a:ext cx="14881282" cy="0"/>
          </a:xfrm>
          <a:prstGeom prst="line">
            <a:avLst/>
          </a:prstGeom>
          <a:ln w="19050" cap="flat">
            <a:solidFill>
              <a:srgbClr val="90113E"/>
            </a:solidFill>
            <a:prstDash val="solid"/>
            <a:headEnd type="none" w="sm" len="sm"/>
            <a:tailEnd type="none" w="sm" len="sm"/>
          </a:ln>
        </p:spPr>
      </p:sp>
      <p:sp>
        <p:nvSpPr>
          <p:cNvPr id="8" name="AutoShape 8"/>
          <p:cNvSpPr/>
          <p:nvPr/>
        </p:nvSpPr>
        <p:spPr>
          <a:xfrm>
            <a:off x="8659450" y="2473365"/>
            <a:ext cx="1972472" cy="894023"/>
          </a:xfrm>
          <a:prstGeom prst="rect">
            <a:avLst/>
          </a:prstGeom>
          <a:solidFill>
            <a:srgbClr val="FFFFFF"/>
          </a:solidFill>
        </p:spPr>
      </p:sp>
      <p:sp>
        <p:nvSpPr>
          <p:cNvPr id="9" name="AutoShape 9"/>
          <p:cNvSpPr/>
          <p:nvPr/>
        </p:nvSpPr>
        <p:spPr>
          <a:xfrm>
            <a:off x="6673531" y="2473365"/>
            <a:ext cx="1972472" cy="894023"/>
          </a:xfrm>
          <a:prstGeom prst="rect">
            <a:avLst/>
          </a:prstGeom>
          <a:solidFill>
            <a:srgbClr val="FFFFFF"/>
          </a:solidFill>
        </p:spPr>
      </p:sp>
      <p:sp>
        <p:nvSpPr>
          <p:cNvPr id="10" name="TextBox 10"/>
          <p:cNvSpPr txBox="1"/>
          <p:nvPr/>
        </p:nvSpPr>
        <p:spPr>
          <a:xfrm>
            <a:off x="6913736" y="2694518"/>
            <a:ext cx="1524842" cy="391529"/>
          </a:xfrm>
          <a:prstGeom prst="rect">
            <a:avLst/>
          </a:prstGeom>
        </p:spPr>
        <p:txBody>
          <a:bodyPr lIns="0" tIns="0" rIns="0" bIns="0" rtlCol="0" anchor="t">
            <a:spAutoFit/>
          </a:bodyPr>
          <a:lstStyle/>
          <a:p>
            <a:pPr marL="0" lvl="0" indent="0" algn="ctr">
              <a:lnSpc>
                <a:spcPts val="3220"/>
              </a:lnSpc>
              <a:spcBef>
                <a:spcPct val="0"/>
              </a:spcBef>
            </a:pPr>
            <a:r>
              <a:rPr lang="en-US" sz="2300" u="none">
                <a:solidFill>
                  <a:srgbClr val="90113E"/>
                </a:solidFill>
                <a:latin typeface="Barlow"/>
                <a:ea typeface="Barlow"/>
                <a:cs typeface="Barlow"/>
                <a:sym typeface="Barlow"/>
              </a:rPr>
              <a:t>Month 1</a:t>
            </a:r>
          </a:p>
        </p:txBody>
      </p:sp>
      <p:sp>
        <p:nvSpPr>
          <p:cNvPr id="11" name="TextBox 11"/>
          <p:cNvSpPr txBox="1"/>
          <p:nvPr/>
        </p:nvSpPr>
        <p:spPr>
          <a:xfrm>
            <a:off x="9075969" y="2694518"/>
            <a:ext cx="1316017" cy="391529"/>
          </a:xfrm>
          <a:prstGeom prst="rect">
            <a:avLst/>
          </a:prstGeom>
        </p:spPr>
        <p:txBody>
          <a:bodyPr lIns="0" tIns="0" rIns="0" bIns="0" rtlCol="0" anchor="t">
            <a:spAutoFit/>
          </a:bodyPr>
          <a:lstStyle/>
          <a:p>
            <a:pPr marL="0" lvl="0" indent="0" algn="ctr">
              <a:lnSpc>
                <a:spcPts val="3220"/>
              </a:lnSpc>
              <a:spcBef>
                <a:spcPct val="0"/>
              </a:spcBef>
            </a:pPr>
            <a:r>
              <a:rPr lang="en-US" sz="2300" u="none">
                <a:solidFill>
                  <a:srgbClr val="90113E"/>
                </a:solidFill>
                <a:latin typeface="Barlow"/>
                <a:ea typeface="Barlow"/>
                <a:cs typeface="Barlow"/>
                <a:sym typeface="Barlow"/>
              </a:rPr>
              <a:t>Month 2</a:t>
            </a:r>
          </a:p>
        </p:txBody>
      </p:sp>
      <p:sp>
        <p:nvSpPr>
          <p:cNvPr id="12" name="AutoShape 12"/>
          <p:cNvSpPr/>
          <p:nvPr/>
        </p:nvSpPr>
        <p:spPr>
          <a:xfrm>
            <a:off x="10645368" y="2473365"/>
            <a:ext cx="1972472" cy="894023"/>
          </a:xfrm>
          <a:prstGeom prst="rect">
            <a:avLst/>
          </a:prstGeom>
          <a:solidFill>
            <a:srgbClr val="FFFFFF"/>
          </a:solidFill>
        </p:spPr>
      </p:sp>
      <p:sp>
        <p:nvSpPr>
          <p:cNvPr id="13" name="TextBox 13"/>
          <p:cNvSpPr txBox="1"/>
          <p:nvPr/>
        </p:nvSpPr>
        <p:spPr>
          <a:xfrm>
            <a:off x="11029376" y="2694518"/>
            <a:ext cx="1316017" cy="391529"/>
          </a:xfrm>
          <a:prstGeom prst="rect">
            <a:avLst/>
          </a:prstGeom>
        </p:spPr>
        <p:txBody>
          <a:bodyPr lIns="0" tIns="0" rIns="0" bIns="0" rtlCol="0" anchor="t">
            <a:spAutoFit/>
          </a:bodyPr>
          <a:lstStyle/>
          <a:p>
            <a:pPr marL="0" lvl="0" indent="0" algn="ctr">
              <a:lnSpc>
                <a:spcPts val="3220"/>
              </a:lnSpc>
              <a:spcBef>
                <a:spcPct val="0"/>
              </a:spcBef>
            </a:pPr>
            <a:r>
              <a:rPr lang="en-US" sz="2300" u="none">
                <a:solidFill>
                  <a:srgbClr val="90113E"/>
                </a:solidFill>
                <a:latin typeface="Barlow"/>
                <a:ea typeface="Barlow"/>
                <a:cs typeface="Barlow"/>
                <a:sym typeface="Barlow"/>
              </a:rPr>
              <a:t>Month 3</a:t>
            </a:r>
          </a:p>
        </p:txBody>
      </p:sp>
      <p:sp>
        <p:nvSpPr>
          <p:cNvPr id="14" name="AutoShape 14"/>
          <p:cNvSpPr/>
          <p:nvPr/>
        </p:nvSpPr>
        <p:spPr>
          <a:xfrm>
            <a:off x="12631287" y="2473365"/>
            <a:ext cx="1972472" cy="894023"/>
          </a:xfrm>
          <a:prstGeom prst="rect">
            <a:avLst/>
          </a:prstGeom>
          <a:solidFill>
            <a:srgbClr val="FFFFFF"/>
          </a:solidFill>
        </p:spPr>
      </p:sp>
      <p:sp>
        <p:nvSpPr>
          <p:cNvPr id="15" name="AutoShape 15"/>
          <p:cNvSpPr/>
          <p:nvPr/>
        </p:nvSpPr>
        <p:spPr>
          <a:xfrm>
            <a:off x="14612169" y="2467083"/>
            <a:ext cx="1972472" cy="894023"/>
          </a:xfrm>
          <a:prstGeom prst="rect">
            <a:avLst/>
          </a:prstGeom>
          <a:solidFill>
            <a:srgbClr val="FFFFFF"/>
          </a:solidFill>
        </p:spPr>
      </p:sp>
      <p:sp>
        <p:nvSpPr>
          <p:cNvPr id="16" name="TextBox 16"/>
          <p:cNvSpPr txBox="1"/>
          <p:nvPr/>
        </p:nvSpPr>
        <p:spPr>
          <a:xfrm>
            <a:off x="12982784" y="2694518"/>
            <a:ext cx="1316017" cy="391529"/>
          </a:xfrm>
          <a:prstGeom prst="rect">
            <a:avLst/>
          </a:prstGeom>
        </p:spPr>
        <p:txBody>
          <a:bodyPr lIns="0" tIns="0" rIns="0" bIns="0" rtlCol="0" anchor="t">
            <a:spAutoFit/>
          </a:bodyPr>
          <a:lstStyle/>
          <a:p>
            <a:pPr marL="0" lvl="0" indent="0" algn="ctr">
              <a:lnSpc>
                <a:spcPts val="3220"/>
              </a:lnSpc>
              <a:spcBef>
                <a:spcPct val="0"/>
              </a:spcBef>
            </a:pPr>
            <a:r>
              <a:rPr lang="en-US" sz="2300" u="none">
                <a:solidFill>
                  <a:srgbClr val="90113E"/>
                </a:solidFill>
                <a:latin typeface="Barlow"/>
                <a:ea typeface="Barlow"/>
                <a:cs typeface="Barlow"/>
                <a:sym typeface="Barlow"/>
              </a:rPr>
              <a:t>Month 4</a:t>
            </a:r>
          </a:p>
        </p:txBody>
      </p:sp>
      <p:sp>
        <p:nvSpPr>
          <p:cNvPr id="17" name="TextBox 17"/>
          <p:cNvSpPr txBox="1"/>
          <p:nvPr/>
        </p:nvSpPr>
        <p:spPr>
          <a:xfrm>
            <a:off x="14936191" y="2694518"/>
            <a:ext cx="1316017" cy="391529"/>
          </a:xfrm>
          <a:prstGeom prst="rect">
            <a:avLst/>
          </a:prstGeom>
        </p:spPr>
        <p:txBody>
          <a:bodyPr lIns="0" tIns="0" rIns="0" bIns="0" rtlCol="0" anchor="t">
            <a:spAutoFit/>
          </a:bodyPr>
          <a:lstStyle/>
          <a:p>
            <a:pPr marL="0" lvl="0" indent="0" algn="ctr">
              <a:lnSpc>
                <a:spcPts val="3220"/>
              </a:lnSpc>
              <a:spcBef>
                <a:spcPct val="0"/>
              </a:spcBef>
            </a:pPr>
            <a:r>
              <a:rPr lang="en-US" sz="2300" u="none">
                <a:solidFill>
                  <a:srgbClr val="90113E"/>
                </a:solidFill>
                <a:latin typeface="Barlow"/>
                <a:ea typeface="Barlow"/>
                <a:cs typeface="Barlow"/>
                <a:sym typeface="Barlow"/>
              </a:rPr>
              <a:t>Month 5</a:t>
            </a:r>
          </a:p>
        </p:txBody>
      </p:sp>
      <p:sp>
        <p:nvSpPr>
          <p:cNvPr id="18" name="TextBox 18"/>
          <p:cNvSpPr txBox="1"/>
          <p:nvPr/>
        </p:nvSpPr>
        <p:spPr>
          <a:xfrm>
            <a:off x="2068802" y="2696086"/>
            <a:ext cx="4370690" cy="389255"/>
          </a:xfrm>
          <a:prstGeom prst="rect">
            <a:avLst/>
          </a:prstGeom>
        </p:spPr>
        <p:txBody>
          <a:bodyPr lIns="0" tIns="0" rIns="0" bIns="0" rtlCol="0" anchor="t">
            <a:spAutoFit/>
          </a:bodyPr>
          <a:lstStyle/>
          <a:p>
            <a:pPr marL="0" lvl="0" indent="0" algn="just">
              <a:lnSpc>
                <a:spcPts val="3220"/>
              </a:lnSpc>
              <a:spcBef>
                <a:spcPct val="0"/>
              </a:spcBef>
            </a:pPr>
            <a:r>
              <a:rPr lang="en-US" sz="2300" u="none">
                <a:solidFill>
                  <a:srgbClr val="90113E"/>
                </a:solidFill>
                <a:latin typeface="Barlow"/>
                <a:ea typeface="Barlow"/>
                <a:cs typeface="Barlow"/>
                <a:sym typeface="Barlow"/>
              </a:rPr>
              <a:t>Tasks</a:t>
            </a:r>
          </a:p>
        </p:txBody>
      </p:sp>
      <p:sp>
        <p:nvSpPr>
          <p:cNvPr id="19" name="TextBox 19"/>
          <p:cNvSpPr txBox="1"/>
          <p:nvPr/>
        </p:nvSpPr>
        <p:spPr>
          <a:xfrm>
            <a:off x="1997743" y="3419744"/>
            <a:ext cx="4441750" cy="366767"/>
          </a:xfrm>
          <a:prstGeom prst="rect">
            <a:avLst/>
          </a:prstGeom>
        </p:spPr>
        <p:txBody>
          <a:bodyPr lIns="0" tIns="0" rIns="0" bIns="0" rtlCol="0" anchor="t">
            <a:spAutoFit/>
          </a:bodyPr>
          <a:lstStyle/>
          <a:p>
            <a:pPr marL="0" lvl="0" indent="0" algn="just">
              <a:lnSpc>
                <a:spcPts val="3220"/>
              </a:lnSpc>
              <a:spcBef>
                <a:spcPct val="0"/>
              </a:spcBef>
            </a:pPr>
            <a:r>
              <a:rPr lang="en-US" sz="2300" u="none" dirty="0">
                <a:solidFill>
                  <a:srgbClr val="90113E"/>
                </a:solidFill>
                <a:latin typeface="Barlow"/>
                <a:ea typeface="Barlow"/>
                <a:cs typeface="Barlow"/>
                <a:sym typeface="Barlow"/>
              </a:rPr>
              <a:t>Gathering requirements</a:t>
            </a:r>
          </a:p>
        </p:txBody>
      </p:sp>
      <p:sp>
        <p:nvSpPr>
          <p:cNvPr id="20" name="TextBox 20"/>
          <p:cNvSpPr txBox="1"/>
          <p:nvPr/>
        </p:nvSpPr>
        <p:spPr>
          <a:xfrm>
            <a:off x="1997743" y="4022985"/>
            <a:ext cx="4441750" cy="366767"/>
          </a:xfrm>
          <a:prstGeom prst="rect">
            <a:avLst/>
          </a:prstGeom>
        </p:spPr>
        <p:txBody>
          <a:bodyPr lIns="0" tIns="0" rIns="0" bIns="0" rtlCol="0" anchor="t">
            <a:spAutoFit/>
          </a:bodyPr>
          <a:lstStyle/>
          <a:p>
            <a:pPr marL="0" lvl="0" indent="0" algn="just">
              <a:lnSpc>
                <a:spcPts val="3220"/>
              </a:lnSpc>
              <a:spcBef>
                <a:spcPct val="0"/>
              </a:spcBef>
            </a:pPr>
            <a:r>
              <a:rPr lang="en-US" sz="2300" u="none" dirty="0">
                <a:solidFill>
                  <a:srgbClr val="90113E"/>
                </a:solidFill>
                <a:latin typeface="Barlow"/>
                <a:ea typeface="Barlow"/>
                <a:cs typeface="Barlow"/>
                <a:sym typeface="Barlow"/>
              </a:rPr>
              <a:t>Analysis</a:t>
            </a:r>
          </a:p>
        </p:txBody>
      </p:sp>
      <p:sp>
        <p:nvSpPr>
          <p:cNvPr id="21" name="TextBox 21"/>
          <p:cNvSpPr txBox="1"/>
          <p:nvPr/>
        </p:nvSpPr>
        <p:spPr>
          <a:xfrm>
            <a:off x="1997743" y="4626226"/>
            <a:ext cx="4441750" cy="366767"/>
          </a:xfrm>
          <a:prstGeom prst="rect">
            <a:avLst/>
          </a:prstGeom>
        </p:spPr>
        <p:txBody>
          <a:bodyPr lIns="0" tIns="0" rIns="0" bIns="0" rtlCol="0" anchor="t">
            <a:spAutoFit/>
          </a:bodyPr>
          <a:lstStyle/>
          <a:p>
            <a:pPr marL="0" lvl="0" indent="0" algn="just">
              <a:lnSpc>
                <a:spcPts val="3220"/>
              </a:lnSpc>
              <a:spcBef>
                <a:spcPct val="0"/>
              </a:spcBef>
            </a:pPr>
            <a:r>
              <a:rPr lang="en-US" sz="2300" u="none" dirty="0">
                <a:solidFill>
                  <a:srgbClr val="90113E"/>
                </a:solidFill>
                <a:latin typeface="Barlow"/>
                <a:ea typeface="Barlow"/>
                <a:cs typeface="Barlow"/>
                <a:sym typeface="Barlow"/>
              </a:rPr>
              <a:t>Design</a:t>
            </a:r>
          </a:p>
        </p:txBody>
      </p:sp>
      <p:sp>
        <p:nvSpPr>
          <p:cNvPr id="22" name="TextBox 22"/>
          <p:cNvSpPr txBox="1"/>
          <p:nvPr/>
        </p:nvSpPr>
        <p:spPr>
          <a:xfrm>
            <a:off x="1997743" y="5229466"/>
            <a:ext cx="4441750" cy="366767"/>
          </a:xfrm>
          <a:prstGeom prst="rect">
            <a:avLst/>
          </a:prstGeom>
        </p:spPr>
        <p:txBody>
          <a:bodyPr lIns="0" tIns="0" rIns="0" bIns="0" rtlCol="0" anchor="t">
            <a:spAutoFit/>
          </a:bodyPr>
          <a:lstStyle/>
          <a:p>
            <a:pPr marL="0" lvl="0" indent="0" algn="just">
              <a:lnSpc>
                <a:spcPts val="3220"/>
              </a:lnSpc>
              <a:spcBef>
                <a:spcPct val="0"/>
              </a:spcBef>
            </a:pPr>
            <a:r>
              <a:rPr lang="en-US" sz="2300" u="none" dirty="0">
                <a:solidFill>
                  <a:srgbClr val="90113E"/>
                </a:solidFill>
                <a:latin typeface="Barlow"/>
                <a:ea typeface="Barlow"/>
                <a:cs typeface="Barlow"/>
                <a:sym typeface="Barlow"/>
              </a:rPr>
              <a:t>Development</a:t>
            </a:r>
          </a:p>
        </p:txBody>
      </p:sp>
      <p:sp>
        <p:nvSpPr>
          <p:cNvPr id="23" name="TextBox 23"/>
          <p:cNvSpPr txBox="1"/>
          <p:nvPr/>
        </p:nvSpPr>
        <p:spPr>
          <a:xfrm>
            <a:off x="2033272" y="5855050"/>
            <a:ext cx="4441750" cy="366767"/>
          </a:xfrm>
          <a:prstGeom prst="rect">
            <a:avLst/>
          </a:prstGeom>
        </p:spPr>
        <p:txBody>
          <a:bodyPr lIns="0" tIns="0" rIns="0" bIns="0" rtlCol="0" anchor="t">
            <a:spAutoFit/>
          </a:bodyPr>
          <a:lstStyle/>
          <a:p>
            <a:pPr marL="0" lvl="0" indent="0" algn="just">
              <a:lnSpc>
                <a:spcPts val="3220"/>
              </a:lnSpc>
              <a:spcBef>
                <a:spcPct val="0"/>
              </a:spcBef>
            </a:pPr>
            <a:r>
              <a:rPr lang="en-US" sz="2300" u="none" dirty="0">
                <a:solidFill>
                  <a:srgbClr val="90113E"/>
                </a:solidFill>
                <a:latin typeface="Barlow"/>
                <a:ea typeface="Barlow"/>
                <a:cs typeface="Barlow"/>
                <a:sym typeface="Barlow"/>
              </a:rPr>
              <a:t>Testing</a:t>
            </a:r>
          </a:p>
        </p:txBody>
      </p:sp>
      <p:sp>
        <p:nvSpPr>
          <p:cNvPr id="24" name="TextBox 24"/>
          <p:cNvSpPr txBox="1"/>
          <p:nvPr/>
        </p:nvSpPr>
        <p:spPr>
          <a:xfrm>
            <a:off x="1997743" y="6435948"/>
            <a:ext cx="4441750" cy="366767"/>
          </a:xfrm>
          <a:prstGeom prst="rect">
            <a:avLst/>
          </a:prstGeom>
        </p:spPr>
        <p:txBody>
          <a:bodyPr lIns="0" tIns="0" rIns="0" bIns="0" rtlCol="0" anchor="t">
            <a:spAutoFit/>
          </a:bodyPr>
          <a:lstStyle/>
          <a:p>
            <a:pPr marL="0" lvl="0" indent="0" algn="just">
              <a:lnSpc>
                <a:spcPts val="3220"/>
              </a:lnSpc>
              <a:spcBef>
                <a:spcPct val="0"/>
              </a:spcBef>
            </a:pPr>
            <a:r>
              <a:rPr lang="en-US" sz="2300" u="none" dirty="0">
                <a:solidFill>
                  <a:srgbClr val="90113E"/>
                </a:solidFill>
                <a:latin typeface="Barlow"/>
                <a:ea typeface="Barlow"/>
                <a:cs typeface="Barlow"/>
                <a:sym typeface="Barlow"/>
              </a:rPr>
              <a:t>Prototyping</a:t>
            </a:r>
          </a:p>
        </p:txBody>
      </p:sp>
      <p:sp>
        <p:nvSpPr>
          <p:cNvPr id="25" name="TextBox 25"/>
          <p:cNvSpPr txBox="1"/>
          <p:nvPr/>
        </p:nvSpPr>
        <p:spPr>
          <a:xfrm>
            <a:off x="1997743" y="7039189"/>
            <a:ext cx="4441750" cy="366767"/>
          </a:xfrm>
          <a:prstGeom prst="rect">
            <a:avLst/>
          </a:prstGeom>
        </p:spPr>
        <p:txBody>
          <a:bodyPr lIns="0" tIns="0" rIns="0" bIns="0" rtlCol="0" anchor="t">
            <a:spAutoFit/>
          </a:bodyPr>
          <a:lstStyle/>
          <a:p>
            <a:pPr marL="0" lvl="0" indent="0" algn="just">
              <a:lnSpc>
                <a:spcPts val="3220"/>
              </a:lnSpc>
              <a:spcBef>
                <a:spcPct val="0"/>
              </a:spcBef>
            </a:pPr>
            <a:r>
              <a:rPr lang="en-US" sz="2300" u="none" dirty="0">
                <a:solidFill>
                  <a:srgbClr val="90113E"/>
                </a:solidFill>
                <a:latin typeface="Barlow"/>
                <a:ea typeface="Barlow"/>
                <a:cs typeface="Barlow"/>
                <a:sym typeface="Barlow"/>
              </a:rPr>
              <a:t>Implementation</a:t>
            </a:r>
          </a:p>
        </p:txBody>
      </p:sp>
      <p:sp>
        <p:nvSpPr>
          <p:cNvPr id="26" name="TextBox 26"/>
          <p:cNvSpPr txBox="1"/>
          <p:nvPr/>
        </p:nvSpPr>
        <p:spPr>
          <a:xfrm>
            <a:off x="1997743" y="7642429"/>
            <a:ext cx="4441750" cy="366767"/>
          </a:xfrm>
          <a:prstGeom prst="rect">
            <a:avLst/>
          </a:prstGeom>
        </p:spPr>
        <p:txBody>
          <a:bodyPr lIns="0" tIns="0" rIns="0" bIns="0" rtlCol="0" anchor="t">
            <a:spAutoFit/>
          </a:bodyPr>
          <a:lstStyle/>
          <a:p>
            <a:pPr marL="0" lvl="0" indent="0" algn="just">
              <a:lnSpc>
                <a:spcPts val="3220"/>
              </a:lnSpc>
              <a:spcBef>
                <a:spcPct val="0"/>
              </a:spcBef>
            </a:pPr>
            <a:r>
              <a:rPr lang="en-US" sz="2300" u="none" dirty="0">
                <a:solidFill>
                  <a:srgbClr val="90113E"/>
                </a:solidFill>
                <a:latin typeface="Barlow"/>
                <a:ea typeface="Barlow"/>
                <a:cs typeface="Barlow"/>
                <a:sym typeface="Barlow"/>
              </a:rPr>
              <a:t>Maintenance</a:t>
            </a:r>
          </a:p>
        </p:txBody>
      </p:sp>
      <p:sp>
        <p:nvSpPr>
          <p:cNvPr id="27" name="AutoShape 27"/>
          <p:cNvSpPr/>
          <p:nvPr/>
        </p:nvSpPr>
        <p:spPr>
          <a:xfrm>
            <a:off x="6673184" y="3424302"/>
            <a:ext cx="1972820" cy="0"/>
          </a:xfrm>
          <a:prstGeom prst="line">
            <a:avLst/>
          </a:prstGeom>
          <a:ln w="485775" cap="flat">
            <a:solidFill>
              <a:srgbClr val="90113E"/>
            </a:solidFill>
            <a:prstDash val="solid"/>
            <a:headEnd type="none" w="sm" len="sm"/>
            <a:tailEnd type="none" w="sm" len="sm"/>
          </a:ln>
        </p:spPr>
      </p:sp>
      <p:sp>
        <p:nvSpPr>
          <p:cNvPr id="28" name="AutoShape 28"/>
          <p:cNvSpPr/>
          <p:nvPr/>
        </p:nvSpPr>
        <p:spPr>
          <a:xfrm>
            <a:off x="7659594" y="4027543"/>
            <a:ext cx="2972328" cy="0"/>
          </a:xfrm>
          <a:prstGeom prst="line">
            <a:avLst/>
          </a:prstGeom>
          <a:ln w="485775" cap="flat">
            <a:solidFill>
              <a:srgbClr val="0BB6BC"/>
            </a:solidFill>
            <a:prstDash val="solid"/>
            <a:headEnd type="none" w="sm" len="sm"/>
            <a:tailEnd type="none" w="sm" len="sm"/>
          </a:ln>
        </p:spPr>
      </p:sp>
      <p:sp>
        <p:nvSpPr>
          <p:cNvPr id="29" name="AutoShape 29"/>
          <p:cNvSpPr/>
          <p:nvPr/>
        </p:nvSpPr>
        <p:spPr>
          <a:xfrm>
            <a:off x="7659594" y="4603308"/>
            <a:ext cx="2012985" cy="0"/>
          </a:xfrm>
          <a:prstGeom prst="line">
            <a:avLst/>
          </a:prstGeom>
          <a:ln w="485775" cap="flat">
            <a:solidFill>
              <a:srgbClr val="FF66C4"/>
            </a:solidFill>
            <a:prstDash val="solid"/>
            <a:headEnd type="none" w="sm" len="sm"/>
            <a:tailEnd type="none" w="sm" len="sm"/>
          </a:ln>
        </p:spPr>
      </p:sp>
      <p:sp>
        <p:nvSpPr>
          <p:cNvPr id="30" name="AutoShape 30"/>
          <p:cNvSpPr/>
          <p:nvPr/>
        </p:nvSpPr>
        <p:spPr>
          <a:xfrm>
            <a:off x="12631287" y="6402324"/>
            <a:ext cx="2962913" cy="0"/>
          </a:xfrm>
          <a:prstGeom prst="line">
            <a:avLst/>
          </a:prstGeom>
          <a:ln w="485775" cap="flat">
            <a:solidFill>
              <a:srgbClr val="083169"/>
            </a:solidFill>
            <a:prstDash val="solid"/>
            <a:headEnd type="none" w="sm" len="sm"/>
            <a:tailEnd type="none" w="sm" len="sm"/>
          </a:ln>
        </p:spPr>
      </p:sp>
      <p:sp>
        <p:nvSpPr>
          <p:cNvPr id="31" name="AutoShape 31"/>
          <p:cNvSpPr/>
          <p:nvPr/>
        </p:nvSpPr>
        <p:spPr>
          <a:xfrm>
            <a:off x="14603759" y="6996645"/>
            <a:ext cx="1980882" cy="0"/>
          </a:xfrm>
          <a:prstGeom prst="line">
            <a:avLst/>
          </a:prstGeom>
          <a:ln w="485775" cap="flat">
            <a:solidFill>
              <a:srgbClr val="CF6E38"/>
            </a:solidFill>
            <a:prstDash val="solid"/>
            <a:headEnd type="none" w="sm" len="sm"/>
            <a:tailEnd type="none" w="sm" len="sm"/>
          </a:ln>
        </p:spPr>
      </p:sp>
      <p:sp>
        <p:nvSpPr>
          <p:cNvPr id="32" name="AutoShape 32"/>
          <p:cNvSpPr/>
          <p:nvPr/>
        </p:nvSpPr>
        <p:spPr>
          <a:xfrm>
            <a:off x="15598405" y="7590073"/>
            <a:ext cx="986236" cy="0"/>
          </a:xfrm>
          <a:prstGeom prst="line">
            <a:avLst/>
          </a:prstGeom>
          <a:ln w="485775" cap="flat">
            <a:solidFill>
              <a:srgbClr val="FF5757"/>
            </a:solidFill>
            <a:prstDash val="solid"/>
            <a:headEnd type="none" w="sm" len="sm"/>
            <a:tailEnd type="none" w="sm" len="sm"/>
          </a:ln>
        </p:spPr>
      </p:sp>
      <p:sp>
        <p:nvSpPr>
          <p:cNvPr id="33" name="AutoShape 33"/>
          <p:cNvSpPr/>
          <p:nvPr/>
        </p:nvSpPr>
        <p:spPr>
          <a:xfrm>
            <a:off x="10645368" y="5214576"/>
            <a:ext cx="3966801" cy="0"/>
          </a:xfrm>
          <a:prstGeom prst="line">
            <a:avLst/>
          </a:prstGeom>
          <a:ln w="485775" cap="flat">
            <a:solidFill>
              <a:srgbClr val="FFDE59"/>
            </a:solidFill>
            <a:prstDash val="solid"/>
            <a:headEnd type="none" w="sm" len="sm"/>
            <a:tailEnd type="none" w="sm" len="sm"/>
          </a:ln>
        </p:spPr>
      </p:sp>
      <p:sp>
        <p:nvSpPr>
          <p:cNvPr id="34" name="AutoShape 34"/>
          <p:cNvSpPr/>
          <p:nvPr/>
        </p:nvSpPr>
        <p:spPr>
          <a:xfrm>
            <a:off x="9672578" y="5809789"/>
            <a:ext cx="3944944" cy="0"/>
          </a:xfrm>
          <a:prstGeom prst="line">
            <a:avLst/>
          </a:prstGeom>
          <a:ln w="485775" cap="flat">
            <a:solidFill>
              <a:srgbClr val="00BF63"/>
            </a:solidFill>
            <a:prstDash val="solid"/>
            <a:headEnd type="none" w="sm" len="sm"/>
            <a:tailEnd type="none" w="sm" len="sm"/>
          </a:ln>
        </p:spPr>
      </p:sp>
      <p:sp>
        <p:nvSpPr>
          <p:cNvPr id="35" name="TextBox 35"/>
          <p:cNvSpPr txBox="1"/>
          <p:nvPr/>
        </p:nvSpPr>
        <p:spPr>
          <a:xfrm>
            <a:off x="1703359" y="343008"/>
            <a:ext cx="14733814" cy="1238250"/>
          </a:xfrm>
          <a:prstGeom prst="rect">
            <a:avLst/>
          </a:prstGeom>
        </p:spPr>
        <p:txBody>
          <a:bodyPr lIns="0" tIns="0" rIns="0" bIns="0" rtlCol="0" anchor="t">
            <a:spAutoFit/>
          </a:bodyPr>
          <a:lstStyle/>
          <a:p>
            <a:pPr marL="0" lvl="0" indent="0" algn="l">
              <a:lnSpc>
                <a:spcPts val="9719"/>
              </a:lnSpc>
            </a:pPr>
            <a:r>
              <a:rPr lang="en-US" sz="8099" b="1">
                <a:solidFill>
                  <a:srgbClr val="0BB6BC"/>
                </a:solidFill>
                <a:latin typeface="Barlow Semi-Bold"/>
                <a:ea typeface="Barlow Semi-Bold"/>
                <a:cs typeface="Barlow Semi-Bold"/>
                <a:sym typeface="Barlow Semi-Bold"/>
              </a:rPr>
              <a:t>Project Traction</a:t>
            </a:r>
          </a:p>
        </p:txBody>
      </p:sp>
      <p:sp>
        <p:nvSpPr>
          <p:cNvPr id="36" name="AutoShape 36"/>
          <p:cNvSpPr/>
          <p:nvPr/>
        </p:nvSpPr>
        <p:spPr>
          <a:xfrm>
            <a:off x="-602092" y="8998522"/>
            <a:ext cx="18890092" cy="2585870"/>
          </a:xfrm>
          <a:prstGeom prst="rect">
            <a:avLst/>
          </a:prstGeom>
          <a:solidFill>
            <a:srgbClr val="90113E"/>
          </a:solidFill>
        </p:spPr>
      </p:sp>
      <p:sp>
        <p:nvSpPr>
          <p:cNvPr id="37" name="TextBox 37"/>
          <p:cNvSpPr txBox="1"/>
          <p:nvPr/>
        </p:nvSpPr>
        <p:spPr>
          <a:xfrm>
            <a:off x="17050357" y="9484941"/>
            <a:ext cx="798886" cy="347980"/>
          </a:xfrm>
          <a:prstGeom prst="rect">
            <a:avLst/>
          </a:prstGeom>
        </p:spPr>
        <p:txBody>
          <a:bodyPr lIns="0" tIns="0" rIns="0" bIns="0" rtlCol="0" anchor="t">
            <a:spAutoFit/>
          </a:bodyPr>
          <a:lstStyle/>
          <a:p>
            <a:pPr algn="r">
              <a:lnSpc>
                <a:spcPts val="2749"/>
              </a:lnSpc>
            </a:pPr>
            <a:r>
              <a:rPr lang="en-US" sz="2199" b="1">
                <a:solidFill>
                  <a:srgbClr val="000000"/>
                </a:solidFill>
                <a:latin typeface="Barlow Semi-Bold"/>
                <a:ea typeface="Barlow Semi-Bold"/>
                <a:cs typeface="Barlow Semi-Bold"/>
                <a:sym typeface="Barlow Semi-Bold"/>
              </a:rPr>
              <a:t>23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0"/>
            <a:ext cx="9341197" cy="10287000"/>
            <a:chOff x="0" y="0"/>
            <a:chExt cx="12454930" cy="13716000"/>
          </a:xfrm>
        </p:grpSpPr>
        <p:sp>
          <p:nvSpPr>
            <p:cNvPr id="3" name="AutoShape 3"/>
            <p:cNvSpPr/>
            <p:nvPr/>
          </p:nvSpPr>
          <p:spPr>
            <a:xfrm>
              <a:off x="0" y="0"/>
              <a:ext cx="12454930" cy="13716000"/>
            </a:xfrm>
            <a:prstGeom prst="rect">
              <a:avLst/>
            </a:prstGeom>
            <a:solidFill>
              <a:srgbClr val="0BB6BC"/>
            </a:solidFill>
          </p:spPr>
        </p:sp>
      </p:grpSp>
      <p:sp>
        <p:nvSpPr>
          <p:cNvPr id="4" name="Freeform 4"/>
          <p:cNvSpPr/>
          <p:nvPr/>
        </p:nvSpPr>
        <p:spPr>
          <a:xfrm>
            <a:off x="1028700" y="2583708"/>
            <a:ext cx="6200420" cy="6200420"/>
          </a:xfrm>
          <a:custGeom>
            <a:avLst/>
            <a:gdLst/>
            <a:ahLst/>
            <a:cxnLst/>
            <a:rect l="l" t="t" r="r" b="b"/>
            <a:pathLst>
              <a:path w="6200420" h="6200420">
                <a:moveTo>
                  <a:pt x="0" y="0"/>
                </a:moveTo>
                <a:lnTo>
                  <a:pt x="6200420" y="0"/>
                </a:lnTo>
                <a:lnTo>
                  <a:pt x="6200420" y="6200420"/>
                </a:lnTo>
                <a:lnTo>
                  <a:pt x="0" y="62004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1028700" y="404813"/>
            <a:ext cx="14733814" cy="1238250"/>
          </a:xfrm>
          <a:prstGeom prst="rect">
            <a:avLst/>
          </a:prstGeom>
        </p:spPr>
        <p:txBody>
          <a:bodyPr lIns="0" tIns="0" rIns="0" bIns="0" rtlCol="0" anchor="t">
            <a:spAutoFit/>
          </a:bodyPr>
          <a:lstStyle/>
          <a:p>
            <a:pPr marL="0" lvl="0" indent="0" algn="l">
              <a:lnSpc>
                <a:spcPts val="9719"/>
              </a:lnSpc>
            </a:pPr>
            <a:r>
              <a:rPr lang="en-US" sz="8099" b="1">
                <a:solidFill>
                  <a:srgbClr val="0BB6BC"/>
                </a:solidFill>
                <a:latin typeface="Barlow Semi-Bold"/>
                <a:ea typeface="Barlow Semi-Bold"/>
                <a:cs typeface="Barlow Semi-Bold"/>
                <a:sym typeface="Barlow Semi-Bold"/>
              </a:rPr>
              <a:t>Business Model</a:t>
            </a:r>
          </a:p>
        </p:txBody>
      </p:sp>
      <p:sp>
        <p:nvSpPr>
          <p:cNvPr id="6" name="TextBox 6"/>
          <p:cNvSpPr txBox="1"/>
          <p:nvPr/>
        </p:nvSpPr>
        <p:spPr>
          <a:xfrm>
            <a:off x="17050357" y="9484941"/>
            <a:ext cx="798886" cy="347980"/>
          </a:xfrm>
          <a:prstGeom prst="rect">
            <a:avLst/>
          </a:prstGeom>
        </p:spPr>
        <p:txBody>
          <a:bodyPr lIns="0" tIns="0" rIns="0" bIns="0" rtlCol="0" anchor="t">
            <a:spAutoFit/>
          </a:bodyPr>
          <a:lstStyle/>
          <a:p>
            <a:pPr algn="r">
              <a:lnSpc>
                <a:spcPts val="2749"/>
              </a:lnSpc>
            </a:pPr>
            <a:r>
              <a:rPr lang="en-US" sz="2199" b="1">
                <a:solidFill>
                  <a:srgbClr val="000000"/>
                </a:solidFill>
                <a:latin typeface="Barlow Semi-Bold"/>
                <a:ea typeface="Barlow Semi-Bold"/>
                <a:cs typeface="Barlow Semi-Bold"/>
                <a:sym typeface="Barlow Semi-Bold"/>
              </a:rPr>
              <a:t>23</a:t>
            </a:r>
          </a:p>
        </p:txBody>
      </p:sp>
      <p:sp>
        <p:nvSpPr>
          <p:cNvPr id="7" name="TextBox 7"/>
          <p:cNvSpPr txBox="1"/>
          <p:nvPr/>
        </p:nvSpPr>
        <p:spPr>
          <a:xfrm>
            <a:off x="9448567" y="845620"/>
            <a:ext cx="7810733" cy="13814231"/>
          </a:xfrm>
          <a:prstGeom prst="rect">
            <a:avLst/>
          </a:prstGeom>
        </p:spPr>
        <p:txBody>
          <a:bodyPr lIns="0" tIns="0" rIns="0" bIns="0" rtlCol="0" anchor="t">
            <a:spAutoFit/>
          </a:bodyPr>
          <a:lstStyle/>
          <a:p>
            <a:pPr>
              <a:lnSpc>
                <a:spcPts val="4184"/>
              </a:lnSpc>
            </a:pPr>
            <a:r>
              <a:rPr lang="en-US" sz="2400" b="1" spc="14" dirty="0">
                <a:solidFill>
                  <a:srgbClr val="000000"/>
                </a:solidFill>
                <a:latin typeface="Canva Sans"/>
                <a:ea typeface="Canva Sans"/>
                <a:cs typeface="Canva Sans"/>
                <a:sym typeface="Canva Sans"/>
              </a:rPr>
              <a:t>How are we making money?</a:t>
            </a:r>
          </a:p>
          <a:p>
            <a:pPr>
              <a:lnSpc>
                <a:spcPts val="4184"/>
              </a:lnSpc>
            </a:pPr>
            <a:r>
              <a:rPr lang="en-US" sz="2400" spc="14" dirty="0">
                <a:solidFill>
                  <a:srgbClr val="000000"/>
                </a:solidFill>
                <a:latin typeface="Canva Sans"/>
                <a:ea typeface="Canva Sans"/>
                <a:cs typeface="Canva Sans"/>
                <a:sym typeface="Canva Sans"/>
              </a:rPr>
              <a:t>We shall be charging </a:t>
            </a:r>
            <a:r>
              <a:rPr lang="en-US" sz="2400" spc="14" dirty="0" err="1">
                <a:solidFill>
                  <a:srgbClr val="000000"/>
                </a:solidFill>
                <a:latin typeface="Canva Sans"/>
                <a:ea typeface="Canva Sans"/>
                <a:cs typeface="Canva Sans"/>
                <a:sym typeface="Canva Sans"/>
              </a:rPr>
              <a:t>ksh</a:t>
            </a:r>
            <a:r>
              <a:rPr lang="en-US" sz="2400" spc="14" dirty="0">
                <a:solidFill>
                  <a:srgbClr val="000000"/>
                </a:solidFill>
                <a:latin typeface="Canva Sans"/>
                <a:ea typeface="Canva Sans"/>
                <a:cs typeface="Canva Sans"/>
                <a:sym typeface="Canva Sans"/>
              </a:rPr>
              <a:t>. 1000 to the state for each vote cast and </a:t>
            </a:r>
            <a:r>
              <a:rPr lang="en-US" sz="2400" spc="14" dirty="0" err="1">
                <a:solidFill>
                  <a:srgbClr val="000000"/>
                </a:solidFill>
                <a:latin typeface="Canva Sans"/>
                <a:ea typeface="Canva Sans"/>
                <a:cs typeface="Canva Sans"/>
                <a:sym typeface="Canva Sans"/>
              </a:rPr>
              <a:t>ksh</a:t>
            </a:r>
            <a:r>
              <a:rPr lang="en-US" sz="2400" spc="14" dirty="0">
                <a:solidFill>
                  <a:srgbClr val="000000"/>
                </a:solidFill>
                <a:latin typeface="Canva Sans"/>
                <a:ea typeface="Canva Sans"/>
                <a:cs typeface="Canva Sans"/>
                <a:sym typeface="Canva Sans"/>
              </a:rPr>
              <a:t>. 500 for voter registration. The livestreaming feature will be charged around </a:t>
            </a:r>
            <a:r>
              <a:rPr lang="en-US" sz="2400" spc="14" dirty="0" err="1">
                <a:solidFill>
                  <a:srgbClr val="000000"/>
                </a:solidFill>
                <a:latin typeface="Canva Sans"/>
                <a:ea typeface="Canva Sans"/>
                <a:cs typeface="Canva Sans"/>
                <a:sym typeface="Canva Sans"/>
              </a:rPr>
              <a:t>ksh</a:t>
            </a:r>
            <a:r>
              <a:rPr lang="en-US" sz="2400" spc="14" dirty="0">
                <a:solidFill>
                  <a:srgbClr val="000000"/>
                </a:solidFill>
                <a:latin typeface="Canva Sans"/>
                <a:ea typeface="Canva Sans"/>
                <a:cs typeface="Canva Sans"/>
                <a:sym typeface="Canva Sans"/>
              </a:rPr>
              <a:t>. 3.5m per hour for 48 hrs.</a:t>
            </a:r>
            <a:br>
              <a:rPr lang="en-US" sz="2400" spc="14" dirty="0">
                <a:solidFill>
                  <a:srgbClr val="000000"/>
                </a:solidFill>
                <a:latin typeface="Canva Sans"/>
                <a:ea typeface="Canva Sans"/>
                <a:cs typeface="Canva Sans"/>
                <a:sym typeface="Canva Sans"/>
              </a:rPr>
            </a:br>
            <a:r>
              <a:rPr lang="en-US" sz="2400" spc="14" dirty="0">
                <a:solidFill>
                  <a:srgbClr val="000000"/>
                </a:solidFill>
                <a:latin typeface="Canva Sans"/>
                <a:ea typeface="Canva Sans"/>
                <a:cs typeface="Canva Sans"/>
                <a:sym typeface="Canva Sans"/>
              </a:rPr>
              <a:t>We will also charge storage of records, bi- elections, political parties etc.</a:t>
            </a:r>
          </a:p>
          <a:p>
            <a:pPr>
              <a:lnSpc>
                <a:spcPts val="4184"/>
              </a:lnSpc>
            </a:pPr>
            <a:endParaRPr lang="en-US" sz="2400" b="1" spc="14" dirty="0">
              <a:solidFill>
                <a:srgbClr val="000000"/>
              </a:solidFill>
              <a:latin typeface="Canva Sans"/>
              <a:ea typeface="Canva Sans"/>
              <a:cs typeface="Canva Sans"/>
              <a:sym typeface="Canva Sans"/>
            </a:endParaRPr>
          </a:p>
          <a:p>
            <a:pPr>
              <a:lnSpc>
                <a:spcPts val="4184"/>
              </a:lnSpc>
            </a:pPr>
            <a:r>
              <a:rPr lang="en-US" sz="2400" b="1" spc="14" dirty="0">
                <a:solidFill>
                  <a:srgbClr val="000000"/>
                </a:solidFill>
                <a:latin typeface="Canva Sans"/>
                <a:ea typeface="Canva Sans"/>
                <a:cs typeface="Canva Sans"/>
                <a:sym typeface="Canva Sans"/>
              </a:rPr>
              <a:t>What are our profit margins?</a:t>
            </a:r>
          </a:p>
          <a:p>
            <a:pPr>
              <a:lnSpc>
                <a:spcPts val="4184"/>
              </a:lnSpc>
            </a:pPr>
            <a:r>
              <a:rPr lang="en-US" sz="2400" spc="14" dirty="0">
                <a:solidFill>
                  <a:srgbClr val="000000"/>
                </a:solidFill>
                <a:latin typeface="Canva Sans"/>
                <a:ea typeface="Canva Sans"/>
                <a:cs typeface="Canva Sans"/>
                <a:sym typeface="Canva Sans"/>
              </a:rPr>
              <a:t>We are looking to making very high profits from a single successful general election which is only 2 years away, we can also make more money from other elections. This guarantees us our cash back and more while also significantly cutting the cost of materials for the state and the tax payer</a:t>
            </a:r>
          </a:p>
          <a:p>
            <a:pPr algn="ctr">
              <a:lnSpc>
                <a:spcPts val="4184"/>
              </a:lnSpc>
            </a:pPr>
            <a:endParaRPr lang="en-US" sz="2988" spc="14" dirty="0">
              <a:solidFill>
                <a:srgbClr val="000000"/>
              </a:solidFill>
              <a:latin typeface="Canva Sans"/>
              <a:ea typeface="Canva Sans"/>
              <a:cs typeface="Canva Sans"/>
              <a:sym typeface="Canva Sans"/>
            </a:endParaRPr>
          </a:p>
          <a:p>
            <a:pPr algn="ctr">
              <a:lnSpc>
                <a:spcPts val="4184"/>
              </a:lnSpc>
            </a:pPr>
            <a:endParaRPr lang="en-US" sz="2988" spc="14" dirty="0">
              <a:solidFill>
                <a:srgbClr val="000000"/>
              </a:solidFill>
              <a:latin typeface="Canva Sans"/>
              <a:ea typeface="Canva Sans"/>
              <a:cs typeface="Canva Sans"/>
              <a:sym typeface="Canva Sans"/>
            </a:endParaRPr>
          </a:p>
          <a:p>
            <a:pPr algn="ctr">
              <a:lnSpc>
                <a:spcPts val="4184"/>
              </a:lnSpc>
            </a:pPr>
            <a:endParaRPr lang="en-US" sz="2988" spc="14" dirty="0">
              <a:solidFill>
                <a:srgbClr val="000000"/>
              </a:solidFill>
              <a:latin typeface="Canva Sans"/>
              <a:ea typeface="Canva Sans"/>
              <a:cs typeface="Canva Sans"/>
              <a:sym typeface="Canva Sans"/>
            </a:endParaRPr>
          </a:p>
          <a:p>
            <a:pPr algn="ctr">
              <a:lnSpc>
                <a:spcPts val="4184"/>
              </a:lnSpc>
            </a:pPr>
            <a:endParaRPr lang="en-US" sz="2988" spc="14" dirty="0">
              <a:solidFill>
                <a:srgbClr val="000000"/>
              </a:solidFill>
              <a:latin typeface="Canva Sans"/>
              <a:ea typeface="Canva Sans"/>
              <a:cs typeface="Canva Sans"/>
              <a:sym typeface="Canva Sans"/>
            </a:endParaRPr>
          </a:p>
          <a:p>
            <a:pPr algn="ctr">
              <a:lnSpc>
                <a:spcPts val="4184"/>
              </a:lnSpc>
            </a:pPr>
            <a:endParaRPr lang="en-US" sz="2988" spc="14" dirty="0">
              <a:solidFill>
                <a:srgbClr val="000000"/>
              </a:solidFill>
              <a:latin typeface="Canva Sans"/>
              <a:ea typeface="Canva Sans"/>
              <a:cs typeface="Canva Sans"/>
              <a:sym typeface="Canva Sans"/>
            </a:endParaRPr>
          </a:p>
          <a:p>
            <a:pPr algn="ctr">
              <a:lnSpc>
                <a:spcPts val="4184"/>
              </a:lnSpc>
            </a:pPr>
            <a:endParaRPr lang="en-US" sz="2988" spc="14" dirty="0">
              <a:solidFill>
                <a:srgbClr val="000000"/>
              </a:solidFill>
              <a:latin typeface="Canva Sans"/>
              <a:ea typeface="Canva Sans"/>
              <a:cs typeface="Canva Sans"/>
              <a:sym typeface="Canva Sans"/>
            </a:endParaRPr>
          </a:p>
          <a:p>
            <a:pPr algn="ctr">
              <a:lnSpc>
                <a:spcPts val="4184"/>
              </a:lnSpc>
            </a:pPr>
            <a:endParaRPr lang="en-US" sz="2988" spc="14" dirty="0">
              <a:solidFill>
                <a:srgbClr val="000000"/>
              </a:solidFill>
              <a:latin typeface="Canva Sans"/>
              <a:ea typeface="Canva Sans"/>
              <a:cs typeface="Canva Sans"/>
              <a:sym typeface="Canva Sans"/>
            </a:endParaRPr>
          </a:p>
          <a:p>
            <a:pPr algn="ctr">
              <a:lnSpc>
                <a:spcPts val="4184"/>
              </a:lnSpc>
            </a:pPr>
            <a:endParaRPr lang="en-US" sz="2988" spc="14" dirty="0">
              <a:solidFill>
                <a:srgbClr val="000000"/>
              </a:solidFill>
              <a:latin typeface="Canva Sans"/>
              <a:ea typeface="Canva Sans"/>
              <a:cs typeface="Canva Sans"/>
              <a:sym typeface="Canva Sans"/>
            </a:endParaRPr>
          </a:p>
          <a:p>
            <a:pPr algn="ctr">
              <a:lnSpc>
                <a:spcPts val="4184"/>
              </a:lnSpc>
            </a:pPr>
            <a:endParaRPr lang="en-US" sz="2988" spc="14" dirty="0">
              <a:solidFill>
                <a:srgbClr val="000000"/>
              </a:solidFill>
              <a:latin typeface="Canva Sans"/>
              <a:ea typeface="Canva Sans"/>
              <a:cs typeface="Canva Sans"/>
              <a:sym typeface="Canva Sans"/>
            </a:endParaRPr>
          </a:p>
          <a:p>
            <a:pPr algn="ctr">
              <a:lnSpc>
                <a:spcPts val="8231"/>
              </a:lnSpc>
            </a:pPr>
            <a:endParaRPr lang="en-US" sz="2988" spc="14" dirty="0">
              <a:solidFill>
                <a:srgbClr val="000000"/>
              </a:solidFill>
              <a:latin typeface="Canva Sans"/>
              <a:ea typeface="Canva Sans"/>
              <a:cs typeface="Canva Sans"/>
              <a:sym typeface="Canv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902317" cy="10287000"/>
          </a:xfrm>
          <a:prstGeom prst="rect">
            <a:avLst/>
          </a:prstGeom>
          <a:solidFill>
            <a:srgbClr val="90113E"/>
          </a:solidFill>
        </p:spPr>
      </p:sp>
      <p:sp>
        <p:nvSpPr>
          <p:cNvPr id="3" name="Freeform 3"/>
          <p:cNvSpPr/>
          <p:nvPr/>
        </p:nvSpPr>
        <p:spPr>
          <a:xfrm>
            <a:off x="-1902317" y="-84320"/>
            <a:ext cx="3804634" cy="10455640"/>
          </a:xfrm>
          <a:custGeom>
            <a:avLst/>
            <a:gdLst/>
            <a:ahLst/>
            <a:cxnLst/>
            <a:rect l="l" t="t" r="r" b="b"/>
            <a:pathLst>
              <a:path w="3804634" h="10455640">
                <a:moveTo>
                  <a:pt x="0" y="0"/>
                </a:moveTo>
                <a:lnTo>
                  <a:pt x="3804634" y="0"/>
                </a:lnTo>
                <a:lnTo>
                  <a:pt x="3804634" y="10455640"/>
                </a:lnTo>
                <a:lnTo>
                  <a:pt x="0" y="10455640"/>
                </a:lnTo>
                <a:lnTo>
                  <a:pt x="0" y="0"/>
                </a:lnTo>
                <a:close/>
              </a:path>
            </a:pathLst>
          </a:custGeom>
          <a:blipFill>
            <a:blip r:embed="rId2">
              <a:extLst>
                <a:ext uri="{96DAC541-7B7A-43D3-8B79-37D633B846F1}">
                  <asvg:svgBlip xmlns:asvg="http://schemas.microsoft.com/office/drawing/2016/SVG/main" r:embed="rId3"/>
                </a:ext>
              </a:extLst>
            </a:blip>
            <a:stretch>
              <a:fillRect r="-174813"/>
            </a:stretch>
          </a:blipFill>
        </p:spPr>
      </p:sp>
      <p:sp>
        <p:nvSpPr>
          <p:cNvPr id="4" name="TextBox 4"/>
          <p:cNvSpPr txBox="1"/>
          <p:nvPr/>
        </p:nvSpPr>
        <p:spPr>
          <a:xfrm>
            <a:off x="2176755" y="2579698"/>
            <a:ext cx="11683751" cy="13032478"/>
          </a:xfrm>
          <a:prstGeom prst="rect">
            <a:avLst/>
          </a:prstGeom>
        </p:spPr>
        <p:txBody>
          <a:bodyPr lIns="0" tIns="0" rIns="0" bIns="0" rtlCol="0" anchor="t">
            <a:spAutoFit/>
          </a:bodyPr>
          <a:lstStyle/>
          <a:p>
            <a:pPr algn="l">
              <a:lnSpc>
                <a:spcPts val="5021"/>
              </a:lnSpc>
            </a:pPr>
            <a:r>
              <a:rPr lang="en-US" sz="3586" dirty="0">
                <a:solidFill>
                  <a:srgbClr val="000000"/>
                </a:solidFill>
                <a:latin typeface="Canva Sans"/>
                <a:ea typeface="Canva Sans"/>
                <a:cs typeface="Canva Sans"/>
                <a:sym typeface="Canva Sans"/>
              </a:rPr>
              <a:t>Show us how you will reach your customers</a:t>
            </a:r>
          </a:p>
          <a:p>
            <a:pPr marL="571500" indent="-571500" algn="l">
              <a:lnSpc>
                <a:spcPts val="4372"/>
              </a:lnSpc>
              <a:buFont typeface="Wingdings" panose="05000000000000000000" pitchFamily="2" charset="2"/>
              <a:buChar char="q"/>
            </a:pPr>
            <a:r>
              <a:rPr lang="en-GB" sz="3600" b="1" dirty="0"/>
              <a:t>Political Parties</a:t>
            </a:r>
            <a:r>
              <a:rPr lang="en-GB" sz="3600" dirty="0"/>
              <a:t>: Engaging with all political parties to gain buy-in and show neutrality</a:t>
            </a:r>
          </a:p>
          <a:p>
            <a:pPr marL="571500" indent="-571500" algn="l">
              <a:lnSpc>
                <a:spcPts val="4372"/>
              </a:lnSpc>
              <a:buFont typeface="Wingdings" panose="05000000000000000000" pitchFamily="2" charset="2"/>
              <a:buChar char="q"/>
            </a:pPr>
            <a:r>
              <a:rPr lang="en-GB" sz="3600" b="1" dirty="0"/>
              <a:t>Collaborations with Government Electoral Commissions</a:t>
            </a:r>
            <a:r>
              <a:rPr lang="en-GB" sz="3600" dirty="0"/>
              <a:t>: Partnering with institutions like the Independent Electoral and Boundaries Commission (IEBC) in Kenya to demonstrate the system's value.</a:t>
            </a:r>
          </a:p>
          <a:p>
            <a:pPr marL="571500" indent="-571500" algn="l">
              <a:lnSpc>
                <a:spcPts val="4372"/>
              </a:lnSpc>
              <a:buFont typeface="Wingdings" panose="05000000000000000000" pitchFamily="2" charset="2"/>
              <a:buChar char="q"/>
            </a:pPr>
            <a:r>
              <a:rPr lang="en-GB" sz="3600" b="1" dirty="0"/>
              <a:t>Public Awareness Campaigns</a:t>
            </a:r>
            <a:r>
              <a:rPr lang="en-GB" sz="3600" dirty="0"/>
              <a:t>: Using traditional and digital media to educate citizens on the benefits and functionality of blockchain-based voting.</a:t>
            </a:r>
          </a:p>
          <a:p>
            <a:pPr marL="571500" indent="-571500" algn="l">
              <a:lnSpc>
                <a:spcPts val="4372"/>
              </a:lnSpc>
              <a:buFont typeface="Wingdings" panose="05000000000000000000" pitchFamily="2" charset="2"/>
              <a:buChar char="q"/>
            </a:pPr>
            <a:r>
              <a:rPr lang="en-GB" sz="3600" b="1" dirty="0"/>
              <a:t>Press Releases and Interviews</a:t>
            </a:r>
            <a:r>
              <a:rPr lang="en-GB" sz="3600" dirty="0"/>
              <a:t>: Reaching out to national and international media outlets to highlight the system's potential to revolutionize elections.</a:t>
            </a:r>
            <a:endParaRPr lang="en-US" sz="3586" dirty="0">
              <a:solidFill>
                <a:srgbClr val="000000"/>
              </a:solidFill>
              <a:latin typeface="Canva Sans"/>
              <a:ea typeface="Canva Sans"/>
              <a:cs typeface="Canva Sans"/>
              <a:sym typeface="Canva Sans"/>
            </a:endParaRPr>
          </a:p>
          <a:p>
            <a:pPr algn="l">
              <a:lnSpc>
                <a:spcPts val="4372"/>
              </a:lnSpc>
            </a:pPr>
            <a:endParaRPr lang="en-US" sz="3586" dirty="0">
              <a:solidFill>
                <a:srgbClr val="000000"/>
              </a:solidFill>
              <a:latin typeface="Canva Sans"/>
              <a:ea typeface="Canva Sans"/>
              <a:cs typeface="Canva Sans"/>
              <a:sym typeface="Canva Sans"/>
            </a:endParaRPr>
          </a:p>
          <a:p>
            <a:pPr algn="l">
              <a:lnSpc>
                <a:spcPts val="4372"/>
              </a:lnSpc>
            </a:pPr>
            <a:endParaRPr lang="en-US" sz="3586" dirty="0">
              <a:solidFill>
                <a:srgbClr val="000000"/>
              </a:solidFill>
              <a:latin typeface="Canva Sans"/>
              <a:ea typeface="Canva Sans"/>
              <a:cs typeface="Canva Sans"/>
              <a:sym typeface="Canva Sans"/>
            </a:endParaRPr>
          </a:p>
          <a:p>
            <a:pPr algn="l">
              <a:lnSpc>
                <a:spcPts val="4372"/>
              </a:lnSpc>
            </a:pPr>
            <a:endParaRPr lang="en-US" sz="3586" dirty="0">
              <a:solidFill>
                <a:srgbClr val="000000"/>
              </a:solidFill>
              <a:latin typeface="Canva Sans"/>
              <a:ea typeface="Canva Sans"/>
              <a:cs typeface="Canva Sans"/>
              <a:sym typeface="Canva Sans"/>
            </a:endParaRPr>
          </a:p>
          <a:p>
            <a:pPr algn="l">
              <a:lnSpc>
                <a:spcPts val="4372"/>
              </a:lnSpc>
            </a:pPr>
            <a:endParaRPr lang="en-US" sz="3586" dirty="0">
              <a:solidFill>
                <a:srgbClr val="000000"/>
              </a:solidFill>
              <a:latin typeface="Canva Sans"/>
              <a:ea typeface="Canva Sans"/>
              <a:cs typeface="Canva Sans"/>
              <a:sym typeface="Canva Sans"/>
            </a:endParaRPr>
          </a:p>
          <a:p>
            <a:pPr algn="l">
              <a:lnSpc>
                <a:spcPts val="4372"/>
              </a:lnSpc>
            </a:pPr>
            <a:endParaRPr lang="en-US" sz="3586" dirty="0">
              <a:solidFill>
                <a:srgbClr val="000000"/>
              </a:solidFill>
              <a:latin typeface="Canva Sans"/>
              <a:ea typeface="Canva Sans"/>
              <a:cs typeface="Canva Sans"/>
              <a:sym typeface="Canva Sans"/>
            </a:endParaRPr>
          </a:p>
          <a:p>
            <a:pPr algn="l">
              <a:lnSpc>
                <a:spcPts val="4372"/>
              </a:lnSpc>
            </a:pPr>
            <a:endParaRPr lang="en-US" sz="3586" dirty="0">
              <a:solidFill>
                <a:srgbClr val="000000"/>
              </a:solidFill>
              <a:latin typeface="Canva Sans"/>
              <a:ea typeface="Canva Sans"/>
              <a:cs typeface="Canva Sans"/>
              <a:sym typeface="Canva Sans"/>
            </a:endParaRPr>
          </a:p>
          <a:p>
            <a:pPr algn="l">
              <a:lnSpc>
                <a:spcPts val="4372"/>
              </a:lnSpc>
            </a:pPr>
            <a:endParaRPr lang="en-US" sz="3586" dirty="0">
              <a:solidFill>
                <a:srgbClr val="000000"/>
              </a:solidFill>
              <a:latin typeface="Canva Sans"/>
              <a:ea typeface="Canva Sans"/>
              <a:cs typeface="Canva Sans"/>
              <a:sym typeface="Canva Sans"/>
            </a:endParaRPr>
          </a:p>
          <a:p>
            <a:pPr algn="l">
              <a:lnSpc>
                <a:spcPts val="4372"/>
              </a:lnSpc>
            </a:pPr>
            <a:endParaRPr lang="en-US" sz="3586" dirty="0">
              <a:solidFill>
                <a:srgbClr val="000000"/>
              </a:solidFill>
              <a:latin typeface="Canva Sans"/>
              <a:ea typeface="Canva Sans"/>
              <a:cs typeface="Canva Sans"/>
              <a:sym typeface="Canva Sans"/>
            </a:endParaRPr>
          </a:p>
          <a:p>
            <a:pPr algn="l">
              <a:lnSpc>
                <a:spcPts val="4372"/>
              </a:lnSpc>
            </a:pPr>
            <a:endParaRPr lang="en-US" sz="3586" dirty="0">
              <a:solidFill>
                <a:srgbClr val="000000"/>
              </a:solidFill>
              <a:latin typeface="Canva Sans"/>
              <a:ea typeface="Canva Sans"/>
              <a:cs typeface="Canva Sans"/>
              <a:sym typeface="Canva Sans"/>
            </a:endParaRPr>
          </a:p>
          <a:p>
            <a:pPr algn="l">
              <a:lnSpc>
                <a:spcPts val="4372"/>
              </a:lnSpc>
            </a:pPr>
            <a:endParaRPr lang="en-US" sz="3586" dirty="0">
              <a:solidFill>
                <a:srgbClr val="000000"/>
              </a:solidFill>
              <a:latin typeface="Canva Sans"/>
              <a:ea typeface="Canva Sans"/>
              <a:cs typeface="Canva Sans"/>
              <a:sym typeface="Canva Sans"/>
            </a:endParaRPr>
          </a:p>
        </p:txBody>
      </p:sp>
      <p:sp>
        <p:nvSpPr>
          <p:cNvPr id="5" name="TextBox 5"/>
          <p:cNvSpPr txBox="1"/>
          <p:nvPr/>
        </p:nvSpPr>
        <p:spPr>
          <a:xfrm>
            <a:off x="2382668" y="667172"/>
            <a:ext cx="13944632" cy="1228725"/>
          </a:xfrm>
          <a:prstGeom prst="rect">
            <a:avLst/>
          </a:prstGeom>
        </p:spPr>
        <p:txBody>
          <a:bodyPr lIns="0" tIns="0" rIns="0" bIns="0" rtlCol="0" anchor="t">
            <a:spAutoFit/>
          </a:bodyPr>
          <a:lstStyle/>
          <a:p>
            <a:pPr marL="0" lvl="0" indent="0" algn="l">
              <a:lnSpc>
                <a:spcPts val="9720"/>
              </a:lnSpc>
            </a:pPr>
            <a:r>
              <a:rPr lang="en-US" sz="8100" b="1">
                <a:solidFill>
                  <a:srgbClr val="0BB6BC"/>
                </a:solidFill>
                <a:latin typeface="Barlow Semi-Bold"/>
                <a:ea typeface="Barlow Semi-Bold"/>
                <a:cs typeface="Barlow Semi-Bold"/>
                <a:sym typeface="Barlow Semi-Bold"/>
              </a:rPr>
              <a:t>Go To Market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902317" cy="10287000"/>
          </a:xfrm>
          <a:prstGeom prst="rect">
            <a:avLst/>
          </a:prstGeom>
          <a:solidFill>
            <a:srgbClr val="90113E"/>
          </a:solidFill>
        </p:spPr>
      </p:sp>
      <p:sp>
        <p:nvSpPr>
          <p:cNvPr id="3" name="Freeform 3"/>
          <p:cNvSpPr/>
          <p:nvPr/>
        </p:nvSpPr>
        <p:spPr>
          <a:xfrm>
            <a:off x="-1902317" y="-84320"/>
            <a:ext cx="3804634" cy="10455640"/>
          </a:xfrm>
          <a:custGeom>
            <a:avLst/>
            <a:gdLst/>
            <a:ahLst/>
            <a:cxnLst/>
            <a:rect l="l" t="t" r="r" b="b"/>
            <a:pathLst>
              <a:path w="3804634" h="10455640">
                <a:moveTo>
                  <a:pt x="0" y="0"/>
                </a:moveTo>
                <a:lnTo>
                  <a:pt x="3804634" y="0"/>
                </a:lnTo>
                <a:lnTo>
                  <a:pt x="3804634" y="10455640"/>
                </a:lnTo>
                <a:lnTo>
                  <a:pt x="0" y="10455640"/>
                </a:lnTo>
                <a:lnTo>
                  <a:pt x="0" y="0"/>
                </a:lnTo>
                <a:close/>
              </a:path>
            </a:pathLst>
          </a:custGeom>
          <a:blipFill>
            <a:blip r:embed="rId2">
              <a:extLst>
                <a:ext uri="{96DAC541-7B7A-43D3-8B79-37D633B846F1}">
                  <asvg:svgBlip xmlns:asvg="http://schemas.microsoft.com/office/drawing/2016/SVG/main" r:embed="rId3"/>
                </a:ext>
              </a:extLst>
            </a:blip>
            <a:stretch>
              <a:fillRect r="-174813"/>
            </a:stretch>
          </a:blipFill>
        </p:spPr>
      </p:sp>
      <p:sp>
        <p:nvSpPr>
          <p:cNvPr id="4" name="TextBox 4"/>
          <p:cNvSpPr txBox="1"/>
          <p:nvPr/>
        </p:nvSpPr>
        <p:spPr>
          <a:xfrm>
            <a:off x="2176755" y="2579698"/>
            <a:ext cx="16111245" cy="12386148"/>
          </a:xfrm>
          <a:prstGeom prst="rect">
            <a:avLst/>
          </a:prstGeom>
        </p:spPr>
        <p:txBody>
          <a:bodyPr wrap="square" lIns="0" tIns="0" rIns="0" bIns="0" rtlCol="0" anchor="t">
            <a:spAutoFit/>
          </a:bodyPr>
          <a:lstStyle/>
          <a:p>
            <a:pPr algn="l">
              <a:lnSpc>
                <a:spcPts val="5021"/>
              </a:lnSpc>
            </a:pPr>
            <a:r>
              <a:rPr lang="en-US" sz="3586" dirty="0">
                <a:solidFill>
                  <a:srgbClr val="000000"/>
                </a:solidFill>
                <a:latin typeface="Canva Sans"/>
                <a:ea typeface="Canva Sans"/>
                <a:cs typeface="Canva Sans"/>
                <a:sym typeface="Canva Sans"/>
              </a:rPr>
              <a:t>What SDGs is your solution addressing, write in point form</a:t>
            </a:r>
          </a:p>
          <a:p>
            <a:pPr marL="457200" indent="-457200" algn="l">
              <a:lnSpc>
                <a:spcPts val="4372"/>
              </a:lnSpc>
              <a:buFont typeface="Arial" panose="020B0604020202020204" pitchFamily="34" charset="0"/>
              <a:buChar char="•"/>
            </a:pPr>
            <a:r>
              <a:rPr lang="en-GB" sz="3200" b="1" dirty="0"/>
              <a:t>SDG 16: Peace, Justice, and Strong Institutions </a:t>
            </a:r>
          </a:p>
          <a:p>
            <a:pPr algn="l">
              <a:lnSpc>
                <a:spcPts val="4372"/>
              </a:lnSpc>
            </a:pPr>
            <a:r>
              <a:rPr lang="en-GB" sz="3200" dirty="0"/>
              <a:t>	Transparent, fair, and accountable electoral processes, reducing corruption and election-related conflicts.</a:t>
            </a:r>
          </a:p>
          <a:p>
            <a:pPr marL="457200" indent="-457200">
              <a:buFont typeface="Arial" panose="020B0604020202020204" pitchFamily="34" charset="0"/>
              <a:buChar char="•"/>
            </a:pPr>
            <a:r>
              <a:rPr lang="en-GB" sz="3200" b="1" dirty="0"/>
              <a:t>SDG 17: Partnerships for the Goals</a:t>
            </a:r>
            <a:endParaRPr lang="en-GB" sz="3200" dirty="0"/>
          </a:p>
          <a:p>
            <a:r>
              <a:rPr lang="en-GB" sz="3200" dirty="0"/>
              <a:t>	collaboration between governments, tech innovators, and international organizations to build robust systems for governance.</a:t>
            </a:r>
          </a:p>
          <a:p>
            <a:pPr marL="457200" indent="-457200">
              <a:buFont typeface="Arial" panose="020B0604020202020204" pitchFamily="34" charset="0"/>
              <a:buChar char="•"/>
            </a:pPr>
            <a:r>
              <a:rPr lang="en-GB" sz="3200" b="1" dirty="0"/>
              <a:t>SDG 9: Industry, Innovation, and Infrastructure</a:t>
            </a:r>
            <a:endParaRPr lang="en-GB" sz="3200" dirty="0"/>
          </a:p>
          <a:p>
            <a:r>
              <a:rPr lang="en-GB" sz="3200" dirty="0"/>
              <a:t>Encourages the adoption of innovative technologies to strengthen institutional processes and infrastructure.</a:t>
            </a:r>
          </a:p>
          <a:p>
            <a:pPr marL="457200" indent="-457200">
              <a:buFont typeface="Arial" panose="020B0604020202020204" pitchFamily="34" charset="0"/>
              <a:buChar char="•"/>
            </a:pPr>
            <a:r>
              <a:rPr lang="en-GB" sz="3200" b="1" dirty="0"/>
              <a:t>SDG 1: No Poverty</a:t>
            </a:r>
            <a:endParaRPr lang="en-GB" sz="3200" dirty="0"/>
          </a:p>
          <a:p>
            <a:r>
              <a:rPr lang="en-GB" sz="3200" dirty="0"/>
              <a:t>Reduces the economic burden caused by election-related violence and displacement, allowing affected communities to rebuild their lives more effectively.</a:t>
            </a:r>
          </a:p>
          <a:p>
            <a:pPr algn="l">
              <a:lnSpc>
                <a:spcPts val="4372"/>
              </a:lnSpc>
            </a:pPr>
            <a:endParaRPr lang="en-US" sz="3586" dirty="0">
              <a:solidFill>
                <a:srgbClr val="000000"/>
              </a:solidFill>
              <a:latin typeface="Canva Sans"/>
              <a:ea typeface="Canva Sans"/>
              <a:cs typeface="Canva Sans"/>
              <a:sym typeface="Canva Sans"/>
            </a:endParaRPr>
          </a:p>
          <a:p>
            <a:pPr algn="l">
              <a:lnSpc>
                <a:spcPts val="4372"/>
              </a:lnSpc>
            </a:pPr>
            <a:endParaRPr lang="en-US" sz="3586" dirty="0">
              <a:solidFill>
                <a:srgbClr val="000000"/>
              </a:solidFill>
              <a:latin typeface="Canva Sans"/>
              <a:ea typeface="Canva Sans"/>
              <a:cs typeface="Canva Sans"/>
              <a:sym typeface="Canva Sans"/>
            </a:endParaRPr>
          </a:p>
          <a:p>
            <a:pPr algn="l">
              <a:lnSpc>
                <a:spcPts val="4372"/>
              </a:lnSpc>
            </a:pPr>
            <a:endParaRPr lang="en-US" sz="3586" dirty="0">
              <a:solidFill>
                <a:srgbClr val="000000"/>
              </a:solidFill>
              <a:latin typeface="Canva Sans"/>
              <a:ea typeface="Canva Sans"/>
              <a:cs typeface="Canva Sans"/>
              <a:sym typeface="Canva Sans"/>
            </a:endParaRPr>
          </a:p>
          <a:p>
            <a:pPr algn="l">
              <a:lnSpc>
                <a:spcPts val="4372"/>
              </a:lnSpc>
            </a:pPr>
            <a:endParaRPr lang="en-US" sz="3586" dirty="0">
              <a:solidFill>
                <a:srgbClr val="000000"/>
              </a:solidFill>
              <a:latin typeface="Canva Sans"/>
              <a:ea typeface="Canva Sans"/>
              <a:cs typeface="Canva Sans"/>
              <a:sym typeface="Canva Sans"/>
            </a:endParaRPr>
          </a:p>
          <a:p>
            <a:pPr algn="l">
              <a:lnSpc>
                <a:spcPts val="4372"/>
              </a:lnSpc>
            </a:pPr>
            <a:endParaRPr lang="en-US" sz="3586" dirty="0">
              <a:solidFill>
                <a:srgbClr val="000000"/>
              </a:solidFill>
              <a:latin typeface="Canva Sans"/>
              <a:ea typeface="Canva Sans"/>
              <a:cs typeface="Canva Sans"/>
              <a:sym typeface="Canva Sans"/>
            </a:endParaRPr>
          </a:p>
          <a:p>
            <a:pPr algn="l">
              <a:lnSpc>
                <a:spcPts val="4372"/>
              </a:lnSpc>
            </a:pPr>
            <a:endParaRPr lang="en-US" sz="3586" dirty="0">
              <a:solidFill>
                <a:srgbClr val="000000"/>
              </a:solidFill>
              <a:latin typeface="Canva Sans"/>
              <a:ea typeface="Canva Sans"/>
              <a:cs typeface="Canva Sans"/>
              <a:sym typeface="Canva Sans"/>
            </a:endParaRPr>
          </a:p>
          <a:p>
            <a:pPr algn="l">
              <a:lnSpc>
                <a:spcPts val="4372"/>
              </a:lnSpc>
            </a:pPr>
            <a:endParaRPr lang="en-US" sz="3586" dirty="0">
              <a:solidFill>
                <a:srgbClr val="000000"/>
              </a:solidFill>
              <a:latin typeface="Canva Sans"/>
              <a:ea typeface="Canva Sans"/>
              <a:cs typeface="Canva Sans"/>
              <a:sym typeface="Canva Sans"/>
            </a:endParaRPr>
          </a:p>
          <a:p>
            <a:pPr algn="l">
              <a:lnSpc>
                <a:spcPts val="4372"/>
              </a:lnSpc>
            </a:pPr>
            <a:endParaRPr lang="en-US" sz="3586" dirty="0">
              <a:solidFill>
                <a:srgbClr val="000000"/>
              </a:solidFill>
              <a:latin typeface="Canva Sans"/>
              <a:ea typeface="Canva Sans"/>
              <a:cs typeface="Canva Sans"/>
              <a:sym typeface="Canva Sans"/>
            </a:endParaRPr>
          </a:p>
          <a:p>
            <a:pPr algn="l">
              <a:lnSpc>
                <a:spcPts val="4372"/>
              </a:lnSpc>
            </a:pPr>
            <a:endParaRPr lang="en-US" sz="3586" dirty="0">
              <a:solidFill>
                <a:srgbClr val="000000"/>
              </a:solidFill>
              <a:latin typeface="Canva Sans"/>
              <a:ea typeface="Canva Sans"/>
              <a:cs typeface="Canva Sans"/>
              <a:sym typeface="Canva Sans"/>
            </a:endParaRPr>
          </a:p>
          <a:p>
            <a:pPr algn="l">
              <a:lnSpc>
                <a:spcPts val="4372"/>
              </a:lnSpc>
            </a:pPr>
            <a:endParaRPr lang="en-US" sz="3586" dirty="0">
              <a:solidFill>
                <a:srgbClr val="000000"/>
              </a:solidFill>
              <a:latin typeface="Canva Sans"/>
              <a:ea typeface="Canva Sans"/>
              <a:cs typeface="Canva Sans"/>
              <a:sym typeface="Canva Sans"/>
            </a:endParaRPr>
          </a:p>
        </p:txBody>
      </p:sp>
      <p:sp>
        <p:nvSpPr>
          <p:cNvPr id="5" name="TextBox 5"/>
          <p:cNvSpPr txBox="1"/>
          <p:nvPr/>
        </p:nvSpPr>
        <p:spPr>
          <a:xfrm>
            <a:off x="2382668" y="667172"/>
            <a:ext cx="13944632" cy="1228725"/>
          </a:xfrm>
          <a:prstGeom prst="rect">
            <a:avLst/>
          </a:prstGeom>
        </p:spPr>
        <p:txBody>
          <a:bodyPr lIns="0" tIns="0" rIns="0" bIns="0" rtlCol="0" anchor="t">
            <a:spAutoFit/>
          </a:bodyPr>
          <a:lstStyle/>
          <a:p>
            <a:pPr marL="0" lvl="0" indent="0" algn="l">
              <a:lnSpc>
                <a:spcPts val="9720"/>
              </a:lnSpc>
            </a:pPr>
            <a:r>
              <a:rPr lang="en-US" sz="8100" b="1">
                <a:solidFill>
                  <a:srgbClr val="0BB6BC"/>
                </a:solidFill>
                <a:latin typeface="Barlow Semi-Bold"/>
                <a:ea typeface="Barlow Semi-Bold"/>
                <a:cs typeface="Barlow Semi-Bold"/>
                <a:sym typeface="Barlow Semi-Bold"/>
              </a:rPr>
              <a:t>Social Impact</a:t>
            </a:r>
          </a:p>
        </p:txBody>
      </p:sp>
      <p:sp>
        <p:nvSpPr>
          <p:cNvPr id="6" name="Rectangle 1">
            <a:extLst>
              <a:ext uri="{FF2B5EF4-FFF2-40B4-BE49-F238E27FC236}">
                <a16:creationId xmlns:a16="http://schemas.microsoft.com/office/drawing/2014/main" id="{A6BDDDEE-CC81-80D1-064D-DA016603901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KE" altLang="en-KE" sz="1800" b="0" i="0" u="none" strike="noStrike" cap="none" normalizeH="0" baseline="0">
                <a:ln>
                  <a:noFill/>
                </a:ln>
                <a:solidFill>
                  <a:schemeClr val="tx1"/>
                </a:solidFill>
                <a:effectLst/>
                <a:latin typeface="Arial" panose="020B0604020202020204" pitchFamily="34" charset="0"/>
              </a:rPr>
              <a:t>transparent, fair, and accountable electoral processes, reducing corruption and election-related conflicts.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KE" altLang="en-KE" sz="1800" b="0" i="0" u="none" strike="noStrike" cap="none" normalizeH="0" baseline="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1772EA9D-D696-20C0-0B66-52F5BC1E9740}"/>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KE" altLang="en-KE" sz="1800" b="0" i="0" u="none" strike="noStrike" cap="none" normalizeH="0" baseline="0">
                <a:ln>
                  <a:noFill/>
                </a:ln>
                <a:solidFill>
                  <a:schemeClr val="tx1"/>
                </a:solidFill>
                <a:effectLst/>
                <a:latin typeface="Arial" panose="020B0604020202020204" pitchFamily="34" charset="0"/>
              </a:rPr>
              <a:t>transparent, fair, and accountable electoral processes, reducing corruption and election-related conflicts.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KE" altLang="en-KE" sz="1800" b="0" i="0" u="none" strike="noStrike" cap="none" normalizeH="0" baseline="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576BB730-82A9-B0DE-91F1-C7390A6E2DB8}"/>
              </a:ext>
            </a:extLst>
          </p:cNvPr>
          <p:cNvSpPr>
            <a:spLocks noChangeArrowheads="1"/>
          </p:cNvSpPr>
          <p:nvPr/>
        </p:nvSpPr>
        <p:spPr bwMode="auto">
          <a:xfrm>
            <a:off x="304800" y="3048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KE" altLang="en-KE" sz="1800" b="0" i="0" u="none" strike="noStrike" cap="none" normalizeH="0" baseline="0">
                <a:ln>
                  <a:noFill/>
                </a:ln>
                <a:solidFill>
                  <a:schemeClr val="tx1"/>
                </a:solidFill>
                <a:effectLst/>
                <a:latin typeface="Arial" panose="020B0604020202020204" pitchFamily="34" charset="0"/>
              </a:rPr>
              <a:t>transparent, fair, and accountable electoral processes, reducing corruption and election-related conflicts.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KE" altLang="en-KE" sz="1800" b="0" i="0" u="none" strike="noStrike" cap="none" normalizeH="0" baseline="0">
              <a:ln>
                <a:noFill/>
              </a:ln>
              <a:solidFill>
                <a:schemeClr val="tx1"/>
              </a:solidFill>
              <a:effectLst/>
              <a:latin typeface="Arial" panose="020B0604020202020204" pitchFamily="34" charset="0"/>
            </a:endParaRPr>
          </a:p>
        </p:txBody>
      </p:sp>
      <p:sp>
        <p:nvSpPr>
          <p:cNvPr id="9" name="Rectangle 4">
            <a:extLst>
              <a:ext uri="{FF2B5EF4-FFF2-40B4-BE49-F238E27FC236}">
                <a16:creationId xmlns:a16="http://schemas.microsoft.com/office/drawing/2014/main" id="{DD8968A3-800A-4DD7-15B9-3F4C0DEC62F9}"/>
              </a:ext>
            </a:extLst>
          </p:cNvPr>
          <p:cNvSpPr>
            <a:spLocks noChangeArrowheads="1"/>
          </p:cNvSpPr>
          <p:nvPr/>
        </p:nvSpPr>
        <p:spPr bwMode="auto">
          <a:xfrm>
            <a:off x="457200" y="4572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KE" altLang="en-KE" sz="1800" b="0" i="0" u="none" strike="noStrike" cap="none" normalizeH="0" baseline="0">
                <a:ln>
                  <a:noFill/>
                </a:ln>
                <a:solidFill>
                  <a:schemeClr val="tx1"/>
                </a:solidFill>
                <a:effectLst/>
                <a:latin typeface="Arial" panose="020B0604020202020204" pitchFamily="34" charset="0"/>
              </a:rPr>
              <a:t>transparent, fair, and accountable electoral processes, reducing corruption and election-related conflicts.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KE" altLang="en-KE" sz="1800" b="0" i="0" u="none" strike="noStrike" cap="none" normalizeH="0" baseline="0">
              <a:ln>
                <a:noFill/>
              </a:ln>
              <a:solidFill>
                <a:schemeClr val="tx1"/>
              </a:solidFill>
              <a:effectLst/>
              <a:latin typeface="Arial" panose="020B0604020202020204" pitchFamily="34" charset="0"/>
            </a:endParaRPr>
          </a:p>
        </p:txBody>
      </p:sp>
      <p:sp>
        <p:nvSpPr>
          <p:cNvPr id="10" name="Rectangle 5">
            <a:extLst>
              <a:ext uri="{FF2B5EF4-FFF2-40B4-BE49-F238E27FC236}">
                <a16:creationId xmlns:a16="http://schemas.microsoft.com/office/drawing/2014/main" id="{1C00D819-1B68-EFC1-57C9-26859A37E63B}"/>
              </a:ext>
            </a:extLst>
          </p:cNvPr>
          <p:cNvSpPr>
            <a:spLocks noChangeArrowheads="1"/>
          </p:cNvSpPr>
          <p:nvPr/>
        </p:nvSpPr>
        <p:spPr bwMode="auto">
          <a:xfrm>
            <a:off x="609600" y="6096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KE" altLang="en-KE" sz="1800" b="0" i="0" u="none" strike="noStrike" cap="none" normalizeH="0" baseline="0">
                <a:ln>
                  <a:noFill/>
                </a:ln>
                <a:solidFill>
                  <a:schemeClr val="tx1"/>
                </a:solidFill>
                <a:effectLst/>
                <a:latin typeface="Arial" panose="020B0604020202020204" pitchFamily="34" charset="0"/>
              </a:rPr>
              <a:t>transparent, fair, and accountable electoral processes, reducing corruption and election-related conflicts.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KE" altLang="en-KE"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2306702"/>
            <a:ext cx="14180848" cy="7899342"/>
          </a:xfrm>
          <a:prstGeom prst="rect">
            <a:avLst/>
          </a:prstGeom>
        </p:spPr>
        <p:txBody>
          <a:bodyPr lIns="0" tIns="0" rIns="0" bIns="0" rtlCol="0" anchor="t">
            <a:spAutoFit/>
          </a:bodyPr>
          <a:lstStyle/>
          <a:p>
            <a:pPr marL="942660" lvl="1" indent="-471330" algn="l">
              <a:lnSpc>
                <a:spcPts val="6549"/>
              </a:lnSpc>
              <a:buFont typeface="Arial"/>
              <a:buChar char="•"/>
            </a:pPr>
            <a:r>
              <a:rPr lang="en-US" sz="4000" spc="21" dirty="0">
                <a:solidFill>
                  <a:srgbClr val="000000"/>
                </a:solidFill>
                <a:latin typeface="Barlow"/>
                <a:ea typeface="Barlow"/>
                <a:cs typeface="Barlow"/>
                <a:sym typeface="Barlow"/>
              </a:rPr>
              <a:t>We therefore humbly request for your financial support to facilitate the development, operation and maintenance of this life changing project </a:t>
            </a:r>
          </a:p>
          <a:p>
            <a:pPr algn="l">
              <a:lnSpc>
                <a:spcPts val="6549"/>
              </a:lnSpc>
            </a:pPr>
            <a:endParaRPr lang="en-US" sz="4000" spc="21" dirty="0">
              <a:solidFill>
                <a:srgbClr val="000000"/>
              </a:solidFill>
              <a:latin typeface="Barlow"/>
              <a:ea typeface="Barlow"/>
              <a:cs typeface="Barlow"/>
              <a:sym typeface="Barlow"/>
            </a:endParaRPr>
          </a:p>
          <a:p>
            <a:pPr marL="571500" indent="-571500" algn="l">
              <a:lnSpc>
                <a:spcPts val="9364"/>
              </a:lnSpc>
              <a:buFont typeface="Arial" panose="020B0604020202020204" pitchFamily="34" charset="0"/>
              <a:buChar char="•"/>
            </a:pPr>
            <a:r>
              <a:rPr lang="en-US" sz="4000" spc="21" dirty="0">
                <a:solidFill>
                  <a:srgbClr val="000000"/>
                </a:solidFill>
                <a:latin typeface="Barlow"/>
                <a:ea typeface="Barlow"/>
                <a:cs typeface="Barlow"/>
                <a:sym typeface="Barlow"/>
              </a:rPr>
              <a:t>We wish to use the funds in acquiring resources, manpower and expertise to spearhead the development, testing, maintenance , training and deployment of this product</a:t>
            </a:r>
          </a:p>
          <a:p>
            <a:pPr algn="l">
              <a:lnSpc>
                <a:spcPts val="8739"/>
              </a:lnSpc>
            </a:pPr>
            <a:endParaRPr lang="en-US" sz="4366" spc="21" dirty="0">
              <a:solidFill>
                <a:srgbClr val="000000"/>
              </a:solidFill>
              <a:latin typeface="Barlow"/>
              <a:ea typeface="Barlow"/>
              <a:cs typeface="Barlow"/>
              <a:sym typeface="Barlow"/>
            </a:endParaRPr>
          </a:p>
        </p:txBody>
      </p:sp>
      <p:sp>
        <p:nvSpPr>
          <p:cNvPr id="3" name="TextBox 3"/>
          <p:cNvSpPr txBox="1"/>
          <p:nvPr/>
        </p:nvSpPr>
        <p:spPr>
          <a:xfrm>
            <a:off x="1028700" y="657822"/>
            <a:ext cx="6896736" cy="1228725"/>
          </a:xfrm>
          <a:prstGeom prst="rect">
            <a:avLst/>
          </a:prstGeom>
        </p:spPr>
        <p:txBody>
          <a:bodyPr lIns="0" tIns="0" rIns="0" bIns="0" rtlCol="0" anchor="t">
            <a:spAutoFit/>
          </a:bodyPr>
          <a:lstStyle/>
          <a:p>
            <a:pPr marL="0" lvl="0" indent="0" algn="l">
              <a:lnSpc>
                <a:spcPts val="9720"/>
              </a:lnSpc>
              <a:spcBef>
                <a:spcPct val="0"/>
              </a:spcBef>
            </a:pPr>
            <a:r>
              <a:rPr lang="en-US" sz="8100" b="1">
                <a:solidFill>
                  <a:srgbClr val="0BB6BC"/>
                </a:solidFill>
                <a:latin typeface="Barlow Bold"/>
                <a:ea typeface="Barlow Bold"/>
                <a:cs typeface="Barlow Bold"/>
                <a:sym typeface="Barlow Bold"/>
              </a:rPr>
              <a:t>Our Ask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05725" y="1028700"/>
            <a:ext cx="13944632" cy="1985652"/>
            <a:chOff x="0" y="0"/>
            <a:chExt cx="18592843" cy="2647536"/>
          </a:xfrm>
        </p:grpSpPr>
        <p:sp>
          <p:nvSpPr>
            <p:cNvPr id="3" name="TextBox 3"/>
            <p:cNvSpPr txBox="1"/>
            <p:nvPr/>
          </p:nvSpPr>
          <p:spPr>
            <a:xfrm>
              <a:off x="0" y="0"/>
              <a:ext cx="18592843" cy="1638300"/>
            </a:xfrm>
            <a:prstGeom prst="rect">
              <a:avLst/>
            </a:prstGeom>
          </p:spPr>
          <p:txBody>
            <a:bodyPr lIns="0" tIns="0" rIns="0" bIns="0" rtlCol="0" anchor="t">
              <a:spAutoFit/>
            </a:bodyPr>
            <a:lstStyle/>
            <a:p>
              <a:pPr marL="0" lvl="0" indent="0" algn="l">
                <a:lnSpc>
                  <a:spcPts val="9720"/>
                </a:lnSpc>
              </a:pPr>
              <a:r>
                <a:rPr lang="en-US" sz="8100" b="1" u="none">
                  <a:solidFill>
                    <a:srgbClr val="0BB6BC"/>
                  </a:solidFill>
                  <a:latin typeface="Barlow Semi-Bold"/>
                  <a:ea typeface="Barlow Semi-Bold"/>
                  <a:cs typeface="Barlow Semi-Bold"/>
                  <a:sym typeface="Barlow Semi-Bold"/>
                </a:rPr>
                <a:t> Team Members </a:t>
              </a:r>
            </a:p>
          </p:txBody>
        </p:sp>
        <p:sp>
          <p:nvSpPr>
            <p:cNvPr id="4" name="TextBox 4"/>
            <p:cNvSpPr txBox="1"/>
            <p:nvPr/>
          </p:nvSpPr>
          <p:spPr>
            <a:xfrm>
              <a:off x="0" y="1939934"/>
              <a:ext cx="16429858" cy="707602"/>
            </a:xfrm>
            <a:prstGeom prst="rect">
              <a:avLst/>
            </a:prstGeom>
          </p:spPr>
          <p:txBody>
            <a:bodyPr lIns="0" tIns="0" rIns="0" bIns="0" rtlCol="0" anchor="t">
              <a:spAutoFit/>
            </a:bodyPr>
            <a:lstStyle/>
            <a:p>
              <a:pPr algn="l">
                <a:lnSpc>
                  <a:spcPts val="4479"/>
                </a:lnSpc>
              </a:pPr>
              <a:endParaRPr lang="en-US" sz="3199" b="1" dirty="0">
                <a:solidFill>
                  <a:srgbClr val="90113E"/>
                </a:solidFill>
                <a:latin typeface="Barlow Medium"/>
                <a:ea typeface="Barlow Medium"/>
                <a:cs typeface="Barlow Medium"/>
                <a:sym typeface="Barlow Medium"/>
              </a:endParaRPr>
            </a:p>
          </p:txBody>
        </p:sp>
      </p:grpSp>
      <p:grpSp>
        <p:nvGrpSpPr>
          <p:cNvPr id="5" name="Group 5"/>
          <p:cNvGrpSpPr>
            <a:grpSpLocks noChangeAspect="1"/>
          </p:cNvGrpSpPr>
          <p:nvPr/>
        </p:nvGrpSpPr>
        <p:grpSpPr>
          <a:xfrm>
            <a:off x="13182600" y="4513172"/>
            <a:ext cx="2637502" cy="2637492"/>
            <a:chOff x="0" y="0"/>
            <a:chExt cx="6350000" cy="6349975"/>
          </a:xfrm>
        </p:grpSpPr>
        <p:sp>
          <p:nvSpPr>
            <p:cNvPr id="6" name="Freeform 6"/>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l="-65432" t="-18314" r="-16050" b="-2675"/>
              </a:stretch>
            </a:blipFill>
          </p:spPr>
        </p:sp>
      </p:grpSp>
      <p:grpSp>
        <p:nvGrpSpPr>
          <p:cNvPr id="9" name="Group 9"/>
          <p:cNvGrpSpPr>
            <a:grpSpLocks noChangeAspect="1"/>
          </p:cNvGrpSpPr>
          <p:nvPr/>
        </p:nvGrpSpPr>
        <p:grpSpPr>
          <a:xfrm>
            <a:off x="3686843" y="5470274"/>
            <a:ext cx="2637502" cy="2637492"/>
            <a:chOff x="0" y="0"/>
            <a:chExt cx="6350000" cy="6349975"/>
          </a:xfrm>
        </p:grpSpPr>
        <p:sp>
          <p:nvSpPr>
            <p:cNvPr id="10" name="Freeform 10"/>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48661" r="-1337"/>
              </a:stretch>
            </a:blipFill>
          </p:spPr>
        </p:sp>
      </p:grpSp>
      <p:grpSp>
        <p:nvGrpSpPr>
          <p:cNvPr id="11" name="Group 11"/>
          <p:cNvGrpSpPr>
            <a:grpSpLocks noChangeAspect="1"/>
          </p:cNvGrpSpPr>
          <p:nvPr/>
        </p:nvGrpSpPr>
        <p:grpSpPr>
          <a:xfrm>
            <a:off x="8303908" y="2749002"/>
            <a:ext cx="2637502" cy="2637492"/>
            <a:chOff x="0" y="0"/>
            <a:chExt cx="6350000" cy="6349975"/>
          </a:xfrm>
        </p:grpSpPr>
        <p:sp>
          <p:nvSpPr>
            <p:cNvPr id="12" name="Freeform 12"/>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4"/>
              <a:stretch>
                <a:fillRect t="-7611" b="-42388"/>
              </a:stretch>
            </a:blipFill>
          </p:spPr>
        </p:sp>
      </p:grpSp>
      <p:grpSp>
        <p:nvGrpSpPr>
          <p:cNvPr id="13" name="Group 13"/>
          <p:cNvGrpSpPr/>
          <p:nvPr/>
        </p:nvGrpSpPr>
        <p:grpSpPr>
          <a:xfrm>
            <a:off x="8303908" y="5733707"/>
            <a:ext cx="2429727" cy="1061495"/>
            <a:chOff x="0" y="-19051"/>
            <a:chExt cx="3239636" cy="1415326"/>
          </a:xfrm>
        </p:grpSpPr>
        <p:sp>
          <p:nvSpPr>
            <p:cNvPr id="14" name="TextBox 14"/>
            <p:cNvSpPr txBox="1"/>
            <p:nvPr/>
          </p:nvSpPr>
          <p:spPr>
            <a:xfrm>
              <a:off x="0" y="-19051"/>
              <a:ext cx="3239636" cy="628650"/>
            </a:xfrm>
            <a:prstGeom prst="rect">
              <a:avLst/>
            </a:prstGeom>
          </p:spPr>
          <p:txBody>
            <a:bodyPr lIns="0" tIns="0" rIns="0" bIns="0" rtlCol="0" anchor="t">
              <a:spAutoFit/>
            </a:bodyPr>
            <a:lstStyle/>
            <a:p>
              <a:pPr marL="0" lvl="0" indent="0" algn="ctr">
                <a:lnSpc>
                  <a:spcPts val="3600"/>
                </a:lnSpc>
              </a:pPr>
              <a:r>
                <a:rPr lang="en-US" sz="3000" b="1" u="none" dirty="0">
                  <a:solidFill>
                    <a:srgbClr val="90113E"/>
                  </a:solidFill>
                  <a:latin typeface="Barlow Semi-Bold"/>
                  <a:ea typeface="Barlow Semi-Bold"/>
                  <a:cs typeface="Barlow Semi-Bold"/>
                  <a:sym typeface="Barlow Semi-Bold"/>
                </a:rPr>
                <a:t> Dev. BARASA</a:t>
              </a:r>
            </a:p>
          </p:txBody>
        </p:sp>
        <p:sp>
          <p:nvSpPr>
            <p:cNvPr id="15" name="TextBox 15"/>
            <p:cNvSpPr txBox="1"/>
            <p:nvPr/>
          </p:nvSpPr>
          <p:spPr>
            <a:xfrm>
              <a:off x="0" y="816630"/>
              <a:ext cx="3239636" cy="579645"/>
            </a:xfrm>
            <a:prstGeom prst="rect">
              <a:avLst/>
            </a:prstGeom>
          </p:spPr>
          <p:txBody>
            <a:bodyPr lIns="0" tIns="0" rIns="0" bIns="0" rtlCol="0" anchor="t">
              <a:spAutoFit/>
            </a:bodyPr>
            <a:lstStyle/>
            <a:p>
              <a:pPr algn="ctr">
                <a:lnSpc>
                  <a:spcPts val="3779"/>
                </a:lnSpc>
              </a:pPr>
              <a:r>
                <a:rPr lang="en-US" sz="2699" dirty="0">
                  <a:solidFill>
                    <a:srgbClr val="90113E"/>
                  </a:solidFill>
                  <a:latin typeface="Barlow"/>
                  <a:ea typeface="Barlow"/>
                  <a:cs typeface="Barlow"/>
                  <a:sym typeface="Barlow"/>
                </a:rPr>
                <a:t>CEO</a:t>
              </a:r>
            </a:p>
          </p:txBody>
        </p:sp>
      </p:grpSp>
      <p:grpSp>
        <p:nvGrpSpPr>
          <p:cNvPr id="16" name="Group 16"/>
          <p:cNvGrpSpPr/>
          <p:nvPr/>
        </p:nvGrpSpPr>
        <p:grpSpPr>
          <a:xfrm>
            <a:off x="13286487" y="7750521"/>
            <a:ext cx="2429727" cy="942996"/>
            <a:chOff x="0" y="138947"/>
            <a:chExt cx="3239636" cy="1257328"/>
          </a:xfrm>
        </p:grpSpPr>
        <p:sp>
          <p:nvSpPr>
            <p:cNvPr id="17" name="TextBox 17"/>
            <p:cNvSpPr txBox="1"/>
            <p:nvPr/>
          </p:nvSpPr>
          <p:spPr>
            <a:xfrm>
              <a:off x="0" y="138947"/>
              <a:ext cx="3239636" cy="628651"/>
            </a:xfrm>
            <a:prstGeom prst="rect">
              <a:avLst/>
            </a:prstGeom>
          </p:spPr>
          <p:txBody>
            <a:bodyPr lIns="0" tIns="0" rIns="0" bIns="0" rtlCol="0" anchor="t">
              <a:spAutoFit/>
            </a:bodyPr>
            <a:lstStyle/>
            <a:p>
              <a:pPr marL="0" lvl="0" indent="0" algn="ctr">
                <a:lnSpc>
                  <a:spcPts val="3600"/>
                </a:lnSpc>
              </a:pPr>
              <a:r>
                <a:rPr lang="en-US" sz="3000" b="1" dirty="0">
                  <a:solidFill>
                    <a:srgbClr val="90113E"/>
                  </a:solidFill>
                  <a:latin typeface="Barlow Semi-Bold"/>
                  <a:ea typeface="Barlow Semi-Bold"/>
                  <a:cs typeface="Barlow Semi-Bold"/>
                  <a:sym typeface="Barlow Semi-Bold"/>
                </a:rPr>
                <a:t>MACHEMBE</a:t>
              </a:r>
              <a:endParaRPr lang="en-US" sz="3000" b="1" u="none" dirty="0">
                <a:solidFill>
                  <a:srgbClr val="90113E"/>
                </a:solidFill>
                <a:latin typeface="Barlow Semi-Bold"/>
                <a:ea typeface="Barlow Semi-Bold"/>
                <a:cs typeface="Barlow Semi-Bold"/>
                <a:sym typeface="Barlow Semi-Bold"/>
              </a:endParaRPr>
            </a:p>
          </p:txBody>
        </p:sp>
        <p:sp>
          <p:nvSpPr>
            <p:cNvPr id="18" name="TextBox 18"/>
            <p:cNvSpPr txBox="1"/>
            <p:nvPr/>
          </p:nvSpPr>
          <p:spPr>
            <a:xfrm>
              <a:off x="0" y="816630"/>
              <a:ext cx="3239636" cy="579645"/>
            </a:xfrm>
            <a:prstGeom prst="rect">
              <a:avLst/>
            </a:prstGeom>
          </p:spPr>
          <p:txBody>
            <a:bodyPr lIns="0" tIns="0" rIns="0" bIns="0" rtlCol="0" anchor="t">
              <a:spAutoFit/>
            </a:bodyPr>
            <a:lstStyle/>
            <a:p>
              <a:pPr algn="ctr">
                <a:lnSpc>
                  <a:spcPts val="3779"/>
                </a:lnSpc>
              </a:pPr>
              <a:r>
                <a:rPr lang="en-US" sz="2699" dirty="0">
                  <a:solidFill>
                    <a:srgbClr val="90113E"/>
                  </a:solidFill>
                  <a:latin typeface="Barlow"/>
                  <a:ea typeface="Barlow"/>
                  <a:cs typeface="Barlow"/>
                  <a:sym typeface="Barlow"/>
                </a:rPr>
                <a:t>PROGRAMMER</a:t>
              </a:r>
            </a:p>
          </p:txBody>
        </p:sp>
      </p:grpSp>
      <p:grpSp>
        <p:nvGrpSpPr>
          <p:cNvPr id="19" name="Group 19"/>
          <p:cNvGrpSpPr/>
          <p:nvPr/>
        </p:nvGrpSpPr>
        <p:grpSpPr>
          <a:xfrm>
            <a:off x="3686843" y="8273634"/>
            <a:ext cx="2429727" cy="1548807"/>
            <a:chOff x="0" y="-19050"/>
            <a:chExt cx="3239636" cy="2065076"/>
          </a:xfrm>
        </p:grpSpPr>
        <p:sp>
          <p:nvSpPr>
            <p:cNvPr id="20" name="TextBox 20"/>
            <p:cNvSpPr txBox="1"/>
            <p:nvPr/>
          </p:nvSpPr>
          <p:spPr>
            <a:xfrm>
              <a:off x="0" y="-19050"/>
              <a:ext cx="3239636" cy="628650"/>
            </a:xfrm>
            <a:prstGeom prst="rect">
              <a:avLst/>
            </a:prstGeom>
          </p:spPr>
          <p:txBody>
            <a:bodyPr lIns="0" tIns="0" rIns="0" bIns="0" rtlCol="0" anchor="t">
              <a:spAutoFit/>
            </a:bodyPr>
            <a:lstStyle/>
            <a:p>
              <a:pPr marL="0" lvl="0" indent="0" algn="ctr">
                <a:lnSpc>
                  <a:spcPts val="3600"/>
                </a:lnSpc>
              </a:pPr>
              <a:r>
                <a:rPr lang="en-US" sz="3000" b="1" dirty="0">
                  <a:solidFill>
                    <a:srgbClr val="90113E"/>
                  </a:solidFill>
                  <a:latin typeface="Barlow Semi-Bold"/>
                  <a:ea typeface="Barlow Semi-Bold"/>
                  <a:cs typeface="Barlow Semi-Bold"/>
                  <a:sym typeface="Barlow Semi-Bold"/>
                </a:rPr>
                <a:t>NYANCHOKA</a:t>
              </a:r>
              <a:endParaRPr lang="en-US" sz="3000" b="1" u="none" dirty="0">
                <a:solidFill>
                  <a:srgbClr val="90113E"/>
                </a:solidFill>
                <a:latin typeface="Barlow Semi-Bold"/>
                <a:ea typeface="Barlow Semi-Bold"/>
                <a:cs typeface="Barlow Semi-Bold"/>
                <a:sym typeface="Barlow Semi-Bold"/>
              </a:endParaRPr>
            </a:p>
          </p:txBody>
        </p:sp>
        <p:sp>
          <p:nvSpPr>
            <p:cNvPr id="21" name="TextBox 21"/>
            <p:cNvSpPr txBox="1"/>
            <p:nvPr/>
          </p:nvSpPr>
          <p:spPr>
            <a:xfrm>
              <a:off x="0" y="816630"/>
              <a:ext cx="3239636" cy="1229396"/>
            </a:xfrm>
            <a:prstGeom prst="rect">
              <a:avLst/>
            </a:prstGeom>
          </p:spPr>
          <p:txBody>
            <a:bodyPr lIns="0" tIns="0" rIns="0" bIns="0" rtlCol="0" anchor="t">
              <a:spAutoFit/>
            </a:bodyPr>
            <a:lstStyle/>
            <a:p>
              <a:pPr algn="ctr">
                <a:lnSpc>
                  <a:spcPts val="3779"/>
                </a:lnSpc>
              </a:pPr>
              <a:r>
                <a:rPr lang="en-US" sz="2699" dirty="0">
                  <a:solidFill>
                    <a:srgbClr val="90113E"/>
                  </a:solidFill>
                  <a:latin typeface="Barlow"/>
                  <a:ea typeface="Barlow"/>
                  <a:cs typeface="Barlow"/>
                  <a:sym typeface="Barlow"/>
                </a:rPr>
                <a:t>BLOCKCHAIN DEVELOPER</a:t>
              </a:r>
            </a:p>
          </p:txBody>
        </p:sp>
      </p:grpSp>
      <p:sp>
        <p:nvSpPr>
          <p:cNvPr id="25" name="AutoShape 25"/>
          <p:cNvSpPr/>
          <p:nvPr/>
        </p:nvSpPr>
        <p:spPr>
          <a:xfrm>
            <a:off x="0" y="0"/>
            <a:ext cx="1902317" cy="10287000"/>
          </a:xfrm>
          <a:prstGeom prst="rect">
            <a:avLst/>
          </a:prstGeom>
          <a:solidFill>
            <a:srgbClr val="90113E"/>
          </a:solidFill>
        </p:spPr>
      </p:sp>
      <p:sp>
        <p:nvSpPr>
          <p:cNvPr id="26" name="Freeform 26"/>
          <p:cNvSpPr/>
          <p:nvPr/>
        </p:nvSpPr>
        <p:spPr>
          <a:xfrm>
            <a:off x="-1902317" y="-84320"/>
            <a:ext cx="3804634" cy="10455640"/>
          </a:xfrm>
          <a:custGeom>
            <a:avLst/>
            <a:gdLst/>
            <a:ahLst/>
            <a:cxnLst/>
            <a:rect l="l" t="t" r="r" b="b"/>
            <a:pathLst>
              <a:path w="3804634" h="10455640">
                <a:moveTo>
                  <a:pt x="0" y="0"/>
                </a:moveTo>
                <a:lnTo>
                  <a:pt x="3804634" y="0"/>
                </a:lnTo>
                <a:lnTo>
                  <a:pt x="3804634" y="10455640"/>
                </a:lnTo>
                <a:lnTo>
                  <a:pt x="0" y="10455640"/>
                </a:lnTo>
                <a:lnTo>
                  <a:pt x="0" y="0"/>
                </a:lnTo>
                <a:close/>
              </a:path>
            </a:pathLst>
          </a:custGeom>
          <a:blipFill>
            <a:blip r:embed="rId5">
              <a:extLst>
                <a:ext uri="{96DAC541-7B7A-43D3-8B79-37D633B846F1}">
                  <asvg:svgBlip xmlns:asvg="http://schemas.microsoft.com/office/drawing/2016/SVG/main" r:embed="rId6"/>
                </a:ext>
              </a:extLst>
            </a:blip>
            <a:stretch>
              <a:fillRect r="-174813"/>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34634" y="-84320"/>
            <a:ext cx="10455640" cy="10455640"/>
          </a:xfrm>
          <a:custGeom>
            <a:avLst/>
            <a:gdLst/>
            <a:ahLst/>
            <a:cxnLst/>
            <a:rect l="l" t="t" r="r" b="b"/>
            <a:pathLst>
              <a:path w="10455640" h="10455640">
                <a:moveTo>
                  <a:pt x="0" y="0"/>
                </a:moveTo>
                <a:lnTo>
                  <a:pt x="10455640" y="0"/>
                </a:lnTo>
                <a:lnTo>
                  <a:pt x="10455640" y="10455640"/>
                </a:lnTo>
                <a:lnTo>
                  <a:pt x="0" y="104556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4044460" y="3615931"/>
            <a:ext cx="10199079" cy="3055138"/>
            <a:chOff x="0" y="0"/>
            <a:chExt cx="13598772" cy="4073517"/>
          </a:xfrm>
        </p:grpSpPr>
        <p:sp>
          <p:nvSpPr>
            <p:cNvPr id="4" name="TextBox 4"/>
            <p:cNvSpPr txBox="1"/>
            <p:nvPr/>
          </p:nvSpPr>
          <p:spPr>
            <a:xfrm>
              <a:off x="0" y="285750"/>
              <a:ext cx="13598772" cy="2762250"/>
            </a:xfrm>
            <a:prstGeom prst="rect">
              <a:avLst/>
            </a:prstGeom>
          </p:spPr>
          <p:txBody>
            <a:bodyPr lIns="0" tIns="0" rIns="0" bIns="0" rtlCol="0" anchor="t">
              <a:spAutoFit/>
            </a:bodyPr>
            <a:lstStyle/>
            <a:p>
              <a:pPr algn="ctr">
                <a:lnSpc>
                  <a:spcPts val="15000"/>
                </a:lnSpc>
              </a:pPr>
              <a:r>
                <a:rPr lang="en-US" sz="15000" b="1">
                  <a:solidFill>
                    <a:srgbClr val="0BB6BC"/>
                  </a:solidFill>
                  <a:latin typeface="Barlow Semi-Bold"/>
                  <a:ea typeface="Barlow Semi-Bold"/>
                  <a:cs typeface="Barlow Semi-Bold"/>
                  <a:sym typeface="Barlow Semi-Bold"/>
                </a:rPr>
                <a:t>Thank you!</a:t>
              </a:r>
            </a:p>
          </p:txBody>
        </p:sp>
        <p:sp>
          <p:nvSpPr>
            <p:cNvPr id="5" name="TextBox 5"/>
            <p:cNvSpPr txBox="1"/>
            <p:nvPr/>
          </p:nvSpPr>
          <p:spPr>
            <a:xfrm>
              <a:off x="0" y="3365915"/>
              <a:ext cx="13219076" cy="707602"/>
            </a:xfrm>
            <a:prstGeom prst="rect">
              <a:avLst/>
            </a:prstGeom>
          </p:spPr>
          <p:txBody>
            <a:bodyPr lIns="0" tIns="0" rIns="0" bIns="0" rtlCol="0" anchor="t">
              <a:spAutoFit/>
            </a:bodyPr>
            <a:lstStyle/>
            <a:p>
              <a:pPr algn="ctr">
                <a:lnSpc>
                  <a:spcPts val="4479"/>
                </a:lnSpc>
              </a:pPr>
              <a:r>
                <a:rPr lang="en-US" sz="3199" b="1" dirty="0">
                  <a:solidFill>
                    <a:srgbClr val="000000"/>
                  </a:solidFill>
                  <a:latin typeface="Tahoma" panose="020B0604030504040204" pitchFamily="34" charset="0"/>
                  <a:ea typeface="Tahoma" panose="020B0604030504040204" pitchFamily="34" charset="0"/>
                  <a:cs typeface="Tahoma" panose="020B0604030504040204" pitchFamily="34" charset="0"/>
                  <a:sym typeface="Barlow Medium"/>
                </a:rPr>
                <a:t>0725713192,  sammiebarasa2002@gmail.com</a:t>
              </a:r>
            </a:p>
          </p:txBody>
        </p:sp>
      </p:grpSp>
      <p:sp>
        <p:nvSpPr>
          <p:cNvPr id="6" name="Freeform 6"/>
          <p:cNvSpPr/>
          <p:nvPr/>
        </p:nvSpPr>
        <p:spPr>
          <a:xfrm>
            <a:off x="14892730" y="1028700"/>
            <a:ext cx="2793363" cy="1396681"/>
          </a:xfrm>
          <a:custGeom>
            <a:avLst/>
            <a:gdLst/>
            <a:ahLst/>
            <a:cxnLst/>
            <a:rect l="l" t="t" r="r" b="b"/>
            <a:pathLst>
              <a:path w="2793363" h="1396681">
                <a:moveTo>
                  <a:pt x="0" y="0"/>
                </a:moveTo>
                <a:lnTo>
                  <a:pt x="2793363" y="0"/>
                </a:lnTo>
                <a:lnTo>
                  <a:pt x="2793363" y="1396681"/>
                </a:lnTo>
                <a:lnTo>
                  <a:pt x="0" y="139668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H="1">
            <a:off x="2825260" y="6798102"/>
            <a:ext cx="2438400" cy="2438400"/>
          </a:xfrm>
          <a:custGeom>
            <a:avLst/>
            <a:gdLst/>
            <a:ahLst/>
            <a:cxnLst/>
            <a:rect l="l" t="t" r="r" b="b"/>
            <a:pathLst>
              <a:path w="2438400" h="2438400">
                <a:moveTo>
                  <a:pt x="2438400" y="0"/>
                </a:moveTo>
                <a:lnTo>
                  <a:pt x="0" y="0"/>
                </a:lnTo>
                <a:lnTo>
                  <a:pt x="0" y="2438400"/>
                </a:lnTo>
                <a:lnTo>
                  <a:pt x="2438400" y="2438400"/>
                </a:lnTo>
                <a:lnTo>
                  <a:pt x="243840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629257" y="893789"/>
            <a:ext cx="1079292" cy="269823"/>
          </a:xfrm>
          <a:custGeom>
            <a:avLst/>
            <a:gdLst/>
            <a:ahLst/>
            <a:cxnLst/>
            <a:rect l="l" t="t" r="r" b="b"/>
            <a:pathLst>
              <a:path w="1079292" h="269823">
                <a:moveTo>
                  <a:pt x="0" y="0"/>
                </a:moveTo>
                <a:lnTo>
                  <a:pt x="1079292" y="0"/>
                </a:lnTo>
                <a:lnTo>
                  <a:pt x="1079292" y="269822"/>
                </a:lnTo>
                <a:lnTo>
                  <a:pt x="0" y="26982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TextBox 9"/>
          <p:cNvSpPr txBox="1"/>
          <p:nvPr/>
        </p:nvSpPr>
        <p:spPr>
          <a:xfrm>
            <a:off x="17050357" y="9484941"/>
            <a:ext cx="798886" cy="347980"/>
          </a:xfrm>
          <a:prstGeom prst="rect">
            <a:avLst/>
          </a:prstGeom>
        </p:spPr>
        <p:txBody>
          <a:bodyPr lIns="0" tIns="0" rIns="0" bIns="0" rtlCol="0" anchor="t">
            <a:spAutoFit/>
          </a:bodyPr>
          <a:lstStyle/>
          <a:p>
            <a:pPr algn="r">
              <a:lnSpc>
                <a:spcPts val="2749"/>
              </a:lnSpc>
            </a:pPr>
            <a:r>
              <a:rPr lang="en-US" sz="2199" b="1">
                <a:solidFill>
                  <a:srgbClr val="000000"/>
                </a:solidFill>
                <a:latin typeface="Barlow Semi-Bold"/>
                <a:ea typeface="Barlow Semi-Bold"/>
                <a:cs typeface="Barlow Semi-Bold"/>
                <a:sym typeface="Barlow Semi-Bold"/>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TotalTime>
  <Words>1001</Words>
  <Application>Microsoft Office PowerPoint</Application>
  <PresentationFormat>Custom</PresentationFormat>
  <Paragraphs>144</Paragraphs>
  <Slides>16</Slides>
  <Notes>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16</vt:i4>
      </vt:variant>
    </vt:vector>
  </HeadingPairs>
  <TitlesOfParts>
    <vt:vector size="31" baseType="lpstr">
      <vt:lpstr>Calibri</vt:lpstr>
      <vt:lpstr>MV Boli</vt:lpstr>
      <vt:lpstr>Barlow</vt:lpstr>
      <vt:lpstr>Tahoma</vt:lpstr>
      <vt:lpstr>Barlow Bold</vt:lpstr>
      <vt:lpstr>Barlow Medium Italics</vt:lpstr>
      <vt:lpstr>Canva Sans</vt:lpstr>
      <vt:lpstr>Barlow Medium</vt:lpstr>
      <vt:lpstr>Arial</vt:lpstr>
      <vt:lpstr>Bahnschrift SemiLight</vt:lpstr>
      <vt:lpstr>Barlow Semi-Bold</vt:lpstr>
      <vt:lpstr>Lucida Bright</vt:lpstr>
      <vt:lpstr>Wingdings</vt:lpstr>
      <vt:lpstr>Garet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Copy of PLP Standard Pitch Deck Template</dc:title>
  <dc:creator>Developer Sammie Barasa</dc:creator>
  <cp:lastModifiedBy>Developer Sammie Barasa</cp:lastModifiedBy>
  <cp:revision>2</cp:revision>
  <dcterms:created xsi:type="dcterms:W3CDTF">2006-08-16T00:00:00Z</dcterms:created>
  <dcterms:modified xsi:type="dcterms:W3CDTF">2025-01-13T16:41:41Z</dcterms:modified>
  <dc:identifier>DAGRQhOMgco</dc:identifier>
</cp:coreProperties>
</file>